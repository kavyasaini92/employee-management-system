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42" r:id="rId1"/>
  </p:sldMasterIdLst>
  <p:sldIdLst>
    <p:sldId id="256" r:id="rId2"/>
    <p:sldId id="318" r:id="rId3"/>
    <p:sldId id="290" r:id="rId4"/>
    <p:sldId id="315" r:id="rId5"/>
    <p:sldId id="316" r:id="rId6"/>
    <p:sldId id="317"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Lst>
  <p:sldSz cx="18288000" cy="10287000"/>
  <p:notesSz cx="18288000" cy="10287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25401" y="0"/>
            <a:ext cx="18346740" cy="10284321"/>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4038598" y="2806697"/>
            <a:ext cx="10223504" cy="2273300"/>
          </a:xfrm>
        </p:spPr>
        <p:txBody>
          <a:bodyPr anchor="b">
            <a:noAutofit/>
          </a:bodyPr>
          <a:lstStyle>
            <a:lvl1pPr algn="ctr">
              <a:defRPr sz="8100">
                <a:effectLst/>
              </a:defRPr>
            </a:lvl1pPr>
          </a:lstStyle>
          <a:p>
            <a:r>
              <a:rPr lang="en-US"/>
              <a:t>Click to edit Master title style</a:t>
            </a:r>
            <a:endParaRPr lang="en-US" dirty="0"/>
          </a:p>
        </p:txBody>
      </p:sp>
      <p:sp>
        <p:nvSpPr>
          <p:cNvPr id="3" name="Subtitle 2"/>
          <p:cNvSpPr>
            <a:spLocks noGrp="1"/>
          </p:cNvSpPr>
          <p:nvPr>
            <p:ph type="subTitle" idx="1"/>
          </p:nvPr>
        </p:nvSpPr>
        <p:spPr>
          <a:xfrm>
            <a:off x="4038598" y="5486396"/>
            <a:ext cx="10223504" cy="1981203"/>
          </a:xfrm>
        </p:spPr>
        <p:txBody>
          <a:bodyPr anchor="t">
            <a:normAutofit/>
          </a:bodyPr>
          <a:lstStyle>
            <a:lvl1pPr marL="0" indent="0" algn="ct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1974849" y="7556495"/>
            <a:ext cx="1346201" cy="419100"/>
          </a:xfrm>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a:xfrm>
            <a:off x="4038596" y="7556495"/>
            <a:ext cx="7821953" cy="419100"/>
          </a:xfrm>
        </p:spPr>
        <p:txBody>
          <a:bodyPr/>
          <a:lstStyle/>
          <a:p>
            <a:endParaRPr lang="en-IN"/>
          </a:p>
        </p:txBody>
      </p:sp>
      <p:sp>
        <p:nvSpPr>
          <p:cNvPr id="6" name="Slide Number Placeholder 5"/>
          <p:cNvSpPr>
            <a:spLocks noGrp="1"/>
          </p:cNvSpPr>
          <p:nvPr>
            <p:ph type="sldNum" sz="quarter" idx="12"/>
          </p:nvPr>
        </p:nvSpPr>
        <p:spPr>
          <a:xfrm>
            <a:off x="13435351" y="7556495"/>
            <a:ext cx="826751" cy="419100"/>
          </a:xfrm>
        </p:spPr>
        <p:txBody>
          <a:bodyPr/>
          <a:lstStyle/>
          <a:p>
            <a:fld id="{B6F15528-21DE-4FAA-801E-634DDDAF4B2B}" type="slidenum">
              <a:rPr lang="en-IN" smtClean="0"/>
              <a:t>‹#›</a:t>
            </a:fld>
            <a:endParaRPr lang="en-IN"/>
          </a:p>
        </p:txBody>
      </p:sp>
      <p:cxnSp>
        <p:nvCxnSpPr>
          <p:cNvPr id="15" name="Straight Connector 14"/>
          <p:cNvCxnSpPr/>
          <p:nvPr/>
        </p:nvCxnSpPr>
        <p:spPr>
          <a:xfrm>
            <a:off x="4038599" y="5283197"/>
            <a:ext cx="1022350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545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10050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022604" y="2628909"/>
            <a:ext cx="12238032" cy="2733771"/>
          </a:xfrm>
        </p:spPr>
        <p:txBody>
          <a:bodyPr anchor="b">
            <a:normAutofit/>
          </a:bodyPr>
          <a:lstStyle>
            <a:lvl1pPr algn="ctr">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3022601" y="5769077"/>
            <a:ext cx="12238035" cy="1431821"/>
          </a:xfrm>
        </p:spPr>
        <p:txBody>
          <a:bodyPr anchor="t">
            <a:normAutofit/>
          </a:bodyPr>
          <a:lstStyle>
            <a:lvl1pPr marL="0" indent="0" algn="ctr">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3019085" y="5565878"/>
            <a:ext cx="122450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03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7672"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72016" y="3840480"/>
            <a:ext cx="7077456" cy="496519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154051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943100" y="3987800"/>
            <a:ext cx="7077456" cy="864393"/>
          </a:xfrm>
        </p:spPr>
        <p:txBody>
          <a:bodyPr anchor="b">
            <a:noAutofit/>
          </a:bodyPr>
          <a:lstStyle>
            <a:lvl1pPr marL="0" indent="0">
              <a:spcBef>
                <a:spcPts val="1008"/>
              </a:spcBef>
              <a:spcAft>
                <a:spcPts val="900"/>
              </a:spcAft>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943100"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71005" y="3987800"/>
            <a:ext cx="7077456" cy="864393"/>
          </a:xfrm>
        </p:spPr>
        <p:txBody>
          <a:bodyPr anchor="b">
            <a:noAutofit/>
          </a:bodyPr>
          <a:lstStyle>
            <a:lvl1pPr marL="0" indent="0">
              <a:spcBef>
                <a:spcPts val="1008"/>
              </a:spcBef>
              <a:spcAft>
                <a:spcPts val="900"/>
              </a:spcAft>
              <a:buNone/>
              <a:defRPr sz="42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71005" y="4864894"/>
            <a:ext cx="7077456" cy="394890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2/11/2026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18" name="Straight Connector 17"/>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566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2/11/2026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8515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2/11/2026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649443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0717" y="2082801"/>
            <a:ext cx="5577683" cy="2057400"/>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8128002" y="1473197"/>
            <a:ext cx="8204199" cy="734060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0717" y="4546598"/>
            <a:ext cx="5577683" cy="3657606"/>
          </a:xfrm>
        </p:spPr>
        <p:txBody>
          <a:bodyPr anchor="t">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2094254" y="4368800"/>
            <a:ext cx="52717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9859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099" y="2825748"/>
            <a:ext cx="9362724" cy="2057400"/>
          </a:xfrm>
        </p:spPr>
        <p:txBody>
          <a:bodyPr anchor="b">
            <a:normAutofit/>
          </a:bodyPr>
          <a:lstStyle>
            <a:lvl1pPr algn="ctr">
              <a:defRPr sz="42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12142247" y="1562100"/>
            <a:ext cx="4595021" cy="71628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099" y="4883148"/>
            <a:ext cx="9362724" cy="2743200"/>
          </a:xfrm>
        </p:spPr>
        <p:txBody>
          <a:bodyPr anchor="t">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61415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3102" y="7223122"/>
            <a:ext cx="14414499" cy="850107"/>
          </a:xfrm>
        </p:spPr>
        <p:txBody>
          <a:bodyPr anchor="b">
            <a:normAutofit/>
          </a:bodyPr>
          <a:lstStyle>
            <a:lvl1pPr algn="ctr">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62141" y="1562099"/>
            <a:ext cx="15158958" cy="5003804"/>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943102" y="8073230"/>
            <a:ext cx="14414499"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613152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55802" y="1473198"/>
            <a:ext cx="14389098" cy="4432302"/>
          </a:xfrm>
        </p:spPr>
        <p:txBody>
          <a:bodyPr anchor="ctr">
            <a:normAutofit/>
          </a:bodyPr>
          <a:lstStyle>
            <a:lvl1pPr algn="ctr">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55802" y="6515099"/>
            <a:ext cx="14389098"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84300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5560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512218" y="5029200"/>
            <a:ext cx="13258803" cy="876300"/>
          </a:xfrm>
        </p:spPr>
        <p:txBody>
          <a:bodyPr anchor="ctr">
            <a:normAutofit/>
          </a:bodyPr>
          <a:lstStyle>
            <a:lvl1pPr marL="0" indent="0" algn="r">
              <a:buFontTx/>
              <a:buNone/>
              <a:defRPr sz="30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3102" y="6515099"/>
            <a:ext cx="14414499" cy="2298701"/>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4" name="TextBox 13"/>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5" name="TextBox 14"/>
          <p:cNvSpPr txBox="1"/>
          <p:nvPr/>
        </p:nvSpPr>
        <p:spPr>
          <a:xfrm>
            <a:off x="15900401" y="4241805"/>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19" name="Straight Connector 18"/>
          <p:cNvCxnSpPr/>
          <p:nvPr/>
        </p:nvCxnSpPr>
        <p:spPr>
          <a:xfrm>
            <a:off x="2094254" y="62102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552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3103" y="4962872"/>
            <a:ext cx="14414502" cy="2203200"/>
          </a:xfrm>
        </p:spPr>
        <p:txBody>
          <a:bodyPr anchor="b">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3102" y="7166072"/>
            <a:ext cx="14414502" cy="1290600"/>
          </a:xfrm>
        </p:spPr>
        <p:txBody>
          <a:bodyPr anchor="t">
            <a:normAutofit/>
          </a:bodyPr>
          <a:lstStyle>
            <a:lvl1pPr marL="0" indent="0" algn="l">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574347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2169320" y="1473198"/>
            <a:ext cx="13944597" cy="3365502"/>
          </a:xfrm>
        </p:spPr>
        <p:txBody>
          <a:bodyPr anchor="ctr">
            <a:normAutofit/>
          </a:bodyPr>
          <a:lstStyle>
            <a:lvl1pPr algn="ctr">
              <a:defRPr sz="48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943102" y="5458968"/>
            <a:ext cx="14414502" cy="1330452"/>
          </a:xfrm>
        </p:spPr>
        <p:txBody>
          <a:bodyPr anchor="b">
            <a:normAutofit/>
          </a:bodyPr>
          <a:lstStyle>
            <a:lvl1pPr marL="0" indent="0" algn="l">
              <a:spcBef>
                <a:spcPts val="0"/>
              </a:spcBef>
              <a:buNone/>
              <a:defRPr sz="36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2" y="6794500"/>
            <a:ext cx="14414502" cy="20193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2" name="TextBox 11"/>
          <p:cNvSpPr txBox="1"/>
          <p:nvPr/>
        </p:nvSpPr>
        <p:spPr>
          <a:xfrm>
            <a:off x="1293020" y="1319942"/>
            <a:ext cx="914400" cy="877164"/>
          </a:xfrm>
          <a:prstGeom prst="rect">
            <a:avLst/>
          </a:prstGeom>
        </p:spPr>
        <p:txBody>
          <a:bodyPr vert="horz" lIns="137160" tIns="68580" rIns="137160" bIns="68580" rtlCol="0" anchor="ctr">
            <a:noAutofit/>
          </a:bodyPr>
          <a:lstStyle/>
          <a:p>
            <a:pPr lvl="0"/>
            <a:r>
              <a:rPr lang="en-US" sz="12000" dirty="0">
                <a:solidFill>
                  <a:schemeClr val="tx1"/>
                </a:solidFill>
                <a:effectLst/>
              </a:rPr>
              <a:t>“</a:t>
            </a:r>
          </a:p>
        </p:txBody>
      </p:sp>
      <p:sp>
        <p:nvSpPr>
          <p:cNvPr id="13" name="TextBox 12"/>
          <p:cNvSpPr txBox="1"/>
          <p:nvPr/>
        </p:nvSpPr>
        <p:spPr>
          <a:xfrm>
            <a:off x="15900401" y="3898892"/>
            <a:ext cx="914400" cy="877164"/>
          </a:xfrm>
          <a:prstGeom prst="rect">
            <a:avLst/>
          </a:prstGeom>
        </p:spPr>
        <p:txBody>
          <a:bodyPr vert="horz" lIns="137160" tIns="68580" rIns="137160" bIns="68580" rtlCol="0" anchor="ctr">
            <a:noAutofit/>
          </a:bodyPr>
          <a:lstStyle/>
          <a:p>
            <a:pPr lvl="0" algn="r"/>
            <a:r>
              <a:rPr lang="en-US" sz="12000" dirty="0">
                <a:solidFill>
                  <a:schemeClr val="tx1"/>
                </a:solidFill>
                <a:effectLst/>
              </a:rPr>
              <a:t>”</a:t>
            </a:r>
          </a:p>
        </p:txBody>
      </p:sp>
      <p:cxnSp>
        <p:nvCxnSpPr>
          <p:cNvPr id="26" name="Straight Connector 25"/>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9264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3102" y="1473198"/>
            <a:ext cx="14414499" cy="3365502"/>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943102" y="5445252"/>
            <a:ext cx="14414502" cy="1261872"/>
          </a:xfrm>
        </p:spPr>
        <p:txBody>
          <a:bodyPr anchor="b">
            <a:normAutofit/>
          </a:bodyPr>
          <a:lstStyle>
            <a:lvl1pPr marL="0" indent="0" algn="l">
              <a:spcBef>
                <a:spcPts val="0"/>
              </a:spcBef>
              <a:buNone/>
              <a:defRPr sz="42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943100" y="6705599"/>
            <a:ext cx="14414505" cy="2108201"/>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2094254" y="5143500"/>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2735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2094254" y="3632199"/>
            <a:ext cx="141109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259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499035" y="1473197"/>
            <a:ext cx="2836343" cy="734060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943098" y="1473198"/>
            <a:ext cx="11149538" cy="7340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3295835" y="1485900"/>
            <a:ext cx="0" cy="73152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55103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23604" y="0"/>
            <a:ext cx="18344943" cy="10284321"/>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943103" y="1473199"/>
            <a:ext cx="14401794" cy="1955801"/>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3102" y="3835398"/>
            <a:ext cx="14401794" cy="4978404"/>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16252" y="8953500"/>
            <a:ext cx="2400300"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1D8BD707-D9CF-40AE-B4C6-C98DA3205C09}" type="datetimeFigureOut">
              <a:rPr lang="en-US" smtClean="0"/>
              <a:t>2/11/2026</a:t>
            </a:fld>
            <a:endParaRPr lang="en-US"/>
          </a:p>
        </p:txBody>
      </p:sp>
      <p:sp>
        <p:nvSpPr>
          <p:cNvPr id="5" name="Footer Placeholder 4"/>
          <p:cNvSpPr>
            <a:spLocks noGrp="1"/>
          </p:cNvSpPr>
          <p:nvPr>
            <p:ph type="ftr" sz="quarter" idx="3"/>
          </p:nvPr>
        </p:nvSpPr>
        <p:spPr>
          <a:xfrm>
            <a:off x="1943102" y="8953500"/>
            <a:ext cx="10958850" cy="419100"/>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5530852" y="8953500"/>
            <a:ext cx="814046" cy="419100"/>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203621121"/>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Lst>
  <p:txStyles>
    <p:titleStyle>
      <a:lvl1pPr algn="ctr" defTabSz="685800" rtl="0" eaLnBrk="1" latinLnBrk="0" hangingPunct="1">
        <a:spcBef>
          <a:spcPct val="0"/>
        </a:spcBef>
        <a:buNone/>
        <a:defRPr sz="66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buClr>
        <a:buSzPct val="115000"/>
        <a:buFont typeface="Arial"/>
        <a:buChar char="•"/>
        <a:defRPr sz="3600" kern="1200" cap="none">
          <a:solidFill>
            <a:schemeClr val="tx1">
              <a:lumMod val="85000"/>
              <a:lumOff val="15000"/>
            </a:schemeClr>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buClr>
        <a:buSzPct val="115000"/>
        <a:buFont typeface="Arial"/>
        <a:buChar char="•"/>
        <a:defRPr sz="3000" kern="1200" cap="none">
          <a:solidFill>
            <a:schemeClr val="tx1">
              <a:lumMod val="85000"/>
              <a:lumOff val="15000"/>
            </a:schemeClr>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buClr>
        <a:buSzPct val="115000"/>
        <a:buFont typeface="Arial"/>
        <a:buChar char="•"/>
        <a:defRPr sz="2700" kern="1200" cap="none">
          <a:solidFill>
            <a:schemeClr val="tx1">
              <a:lumMod val="85000"/>
              <a:lumOff val="15000"/>
            </a:schemeClr>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buClr>
        <a:buSzPct val="115000"/>
        <a:buFont typeface="Arial"/>
        <a:buChar char="•"/>
        <a:defRPr sz="2100" kern="1200" cap="none">
          <a:solidFill>
            <a:schemeClr val="tx1">
              <a:lumMod val="85000"/>
              <a:lumOff val="15000"/>
            </a:schemeClr>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8100"/>
            <a:ext cx="18288000" cy="10279682"/>
          </a:xfrm>
          <a:prstGeom prst="rect">
            <a:avLst/>
          </a:prstGeom>
        </p:spPr>
      </p:pic>
      <p:sp>
        <p:nvSpPr>
          <p:cNvPr id="3" name="object 3" descr="$PPTXTitle"/>
          <p:cNvSpPr txBox="1">
            <a:spLocks noGrp="1"/>
          </p:cNvSpPr>
          <p:nvPr>
            <p:ph type="title"/>
          </p:nvPr>
        </p:nvSpPr>
        <p:spPr>
          <a:xfrm>
            <a:off x="4724400" y="5981083"/>
            <a:ext cx="8077200" cy="1681294"/>
          </a:xfrm>
          <a:prstGeom prst="rect">
            <a:avLst/>
          </a:prstGeom>
        </p:spPr>
        <p:txBody>
          <a:bodyPr vert="horz" wrap="square" lIns="0" tIns="27940" rIns="0" bIns="0" rtlCol="0">
            <a:spAutoFit/>
          </a:bodyPr>
          <a:lstStyle/>
          <a:p>
            <a:pPr marL="333375" marR="5080" indent="-321310">
              <a:lnSpc>
                <a:spcPts val="6459"/>
              </a:lnSpc>
              <a:spcBef>
                <a:spcPts val="220"/>
              </a:spcBef>
            </a:pPr>
            <a:r>
              <a:rPr lang="en-IN" sz="5400" b="1" dirty="0"/>
              <a:t>Employee Management System </a:t>
            </a:r>
            <a:endParaRPr sz="5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7077E4-54C7-DB6B-03DC-968490143C54}"/>
              </a:ext>
            </a:extLst>
          </p:cNvPr>
          <p:cNvSpPr>
            <a:spLocks noGrp="1"/>
          </p:cNvSpPr>
          <p:nvPr>
            <p:ph type="ctrTitle"/>
          </p:nvPr>
        </p:nvSpPr>
        <p:spPr>
          <a:xfrm>
            <a:off x="4038598" y="2476500"/>
            <a:ext cx="10223504" cy="2438400"/>
          </a:xfrm>
        </p:spPr>
        <p:txBody>
          <a:bodyPr/>
          <a:lstStyle/>
          <a:p>
            <a:r>
              <a:rPr lang="en-US" sz="6600" b="1" dirty="0"/>
              <a:t>EMPLOYEE MANAGEMENT SYSTEM </a:t>
            </a:r>
            <a:endParaRPr lang="en-IN" sz="6600" dirty="0"/>
          </a:p>
        </p:txBody>
      </p:sp>
      <p:sp>
        <p:nvSpPr>
          <p:cNvPr id="4" name="Subtitle 3">
            <a:extLst>
              <a:ext uri="{FF2B5EF4-FFF2-40B4-BE49-F238E27FC236}">
                <a16:creationId xmlns:a16="http://schemas.microsoft.com/office/drawing/2014/main" id="{AF835A8B-9030-AC82-AA8F-F58584A59384}"/>
              </a:ext>
            </a:extLst>
          </p:cNvPr>
          <p:cNvSpPr>
            <a:spLocks noGrp="1"/>
          </p:cNvSpPr>
          <p:nvPr>
            <p:ph type="subTitle" idx="1"/>
          </p:nvPr>
        </p:nvSpPr>
        <p:spPr>
          <a:xfrm>
            <a:off x="4038598" y="5524500"/>
            <a:ext cx="10223504" cy="1943099"/>
          </a:xfrm>
        </p:spPr>
        <p:txBody>
          <a:bodyPr>
            <a:normAutofit/>
          </a:bodyPr>
          <a:lstStyle/>
          <a:p>
            <a:r>
              <a:rPr lang="en-US" dirty="0"/>
              <a:t>                                                  SQL based database project </a:t>
            </a:r>
          </a:p>
          <a:p>
            <a:endParaRPr lang="en-IN" dirty="0"/>
          </a:p>
        </p:txBody>
      </p:sp>
      <p:pic>
        <p:nvPicPr>
          <p:cNvPr id="5" name="object 12">
            <a:extLst>
              <a:ext uri="{FF2B5EF4-FFF2-40B4-BE49-F238E27FC236}">
                <a16:creationId xmlns:a16="http://schemas.microsoft.com/office/drawing/2014/main" id="{56D61A54-D52A-5674-E1FE-922DA3B90F74}"/>
              </a:ext>
            </a:extLst>
          </p:cNvPr>
          <p:cNvPicPr/>
          <p:nvPr/>
        </p:nvPicPr>
        <p:blipFill>
          <a:blip r:embed="rId2"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397139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4CCE-7D34-E8FF-DD21-B23BA0EAE188}"/>
              </a:ext>
            </a:extLst>
          </p:cNvPr>
          <p:cNvSpPr>
            <a:spLocks noGrp="1"/>
          </p:cNvSpPr>
          <p:nvPr>
            <p:ph type="title"/>
          </p:nvPr>
        </p:nvSpPr>
        <p:spPr>
          <a:xfrm>
            <a:off x="1943103" y="1485900"/>
            <a:ext cx="14401794" cy="1752600"/>
          </a:xfrm>
        </p:spPr>
        <p:txBody>
          <a:bodyPr/>
          <a:lstStyle/>
          <a:p>
            <a:r>
              <a:rPr lang="en-IN" dirty="0"/>
              <a:t>Introduction </a:t>
            </a:r>
          </a:p>
        </p:txBody>
      </p:sp>
      <p:pic>
        <p:nvPicPr>
          <p:cNvPr id="3" name="object 12">
            <a:extLst>
              <a:ext uri="{FF2B5EF4-FFF2-40B4-BE49-F238E27FC236}">
                <a16:creationId xmlns:a16="http://schemas.microsoft.com/office/drawing/2014/main" id="{0D26E7A9-9AB3-EB4B-44C7-52BB0BADE9F3}"/>
              </a:ext>
            </a:extLst>
          </p:cNvPr>
          <p:cNvPicPr/>
          <p:nvPr/>
        </p:nvPicPr>
        <p:blipFill>
          <a:blip r:embed="rId2" cstate="print"/>
          <a:stretch>
            <a:fillRect/>
          </a:stretch>
        </p:blipFill>
        <p:spPr>
          <a:xfrm>
            <a:off x="0" y="9524"/>
            <a:ext cx="4514849" cy="809625"/>
          </a:xfrm>
          <a:prstGeom prst="rect">
            <a:avLst/>
          </a:prstGeom>
        </p:spPr>
      </p:pic>
      <p:sp>
        <p:nvSpPr>
          <p:cNvPr id="4" name="Rectangle 1">
            <a:extLst>
              <a:ext uri="{FF2B5EF4-FFF2-40B4-BE49-F238E27FC236}">
                <a16:creationId xmlns:a16="http://schemas.microsoft.com/office/drawing/2014/main" id="{5E39410D-DAFE-A577-7DC0-FC08576D7B84}"/>
              </a:ext>
            </a:extLst>
          </p:cNvPr>
          <p:cNvSpPr>
            <a:spLocks noChangeArrowheads="1"/>
          </p:cNvSpPr>
          <p:nvPr/>
        </p:nvSpPr>
        <p:spPr bwMode="auto">
          <a:xfrm>
            <a:off x="2057400" y="3817829"/>
            <a:ext cx="1455419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Employee Management System focuses on efficient handling of employee, department, payroll, qualification, and leave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organizations track employee records, salary details, and operational activities accurately.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simulates a real-world organizational database with interconnected tables and relationships.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is used to store, retrieve, and analyze data for meaningful insights and reporting.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provides hands-on experience in database design and business data analysis.</a:t>
            </a:r>
          </a:p>
        </p:txBody>
      </p:sp>
    </p:spTree>
    <p:extLst>
      <p:ext uri="{BB962C8B-B14F-4D97-AF65-F5344CB8AC3E}">
        <p14:creationId xmlns:p14="http://schemas.microsoft.com/office/powerpoint/2010/main" val="535848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9EF24A-3139-CD20-E640-33AE3D986285}"/>
              </a:ext>
            </a:extLst>
          </p:cNvPr>
          <p:cNvSpPr>
            <a:spLocks noGrp="1"/>
          </p:cNvSpPr>
          <p:nvPr>
            <p:ph type="title"/>
          </p:nvPr>
        </p:nvSpPr>
        <p:spPr/>
        <p:txBody>
          <a:bodyPr/>
          <a:lstStyle/>
          <a:p>
            <a:r>
              <a:rPr lang="en-US" b="1" dirty="0"/>
              <a:t>Tables</a:t>
            </a:r>
            <a:endParaRPr lang="en-IN" b="1" dirty="0"/>
          </a:p>
        </p:txBody>
      </p:sp>
      <p:sp>
        <p:nvSpPr>
          <p:cNvPr id="4" name="Content Placeholder 3">
            <a:extLst>
              <a:ext uri="{FF2B5EF4-FFF2-40B4-BE49-F238E27FC236}">
                <a16:creationId xmlns:a16="http://schemas.microsoft.com/office/drawing/2014/main" id="{943E90EA-FC84-4754-56A6-49CB56B40197}"/>
              </a:ext>
            </a:extLst>
          </p:cNvPr>
          <p:cNvSpPr>
            <a:spLocks noGrp="1"/>
          </p:cNvSpPr>
          <p:nvPr>
            <p:ph idx="1"/>
          </p:nvPr>
        </p:nvSpPr>
        <p:spPr/>
        <p:txBody>
          <a:bodyPr/>
          <a:lstStyle/>
          <a:p>
            <a:pPr marL="0" indent="0">
              <a:buNone/>
            </a:pPr>
            <a:r>
              <a:rPr lang="en-US" b="1" dirty="0"/>
              <a:t>       </a:t>
            </a:r>
            <a:r>
              <a:rPr lang="en-US" b="1" dirty="0" err="1"/>
              <a:t>JobDepartment</a:t>
            </a:r>
            <a:r>
              <a:rPr lang="en-US" b="1" dirty="0"/>
              <a:t> Table                                         </a:t>
            </a:r>
            <a:r>
              <a:rPr lang="en-US" b="1" dirty="0" err="1"/>
              <a:t>SalaryBonus</a:t>
            </a:r>
            <a:r>
              <a:rPr lang="en-US" b="1" dirty="0"/>
              <a:t> Table</a:t>
            </a:r>
          </a:p>
          <a:p>
            <a:endParaRPr lang="en-US" dirty="0"/>
          </a:p>
          <a:p>
            <a:endParaRPr lang="en-IN" dirty="0"/>
          </a:p>
        </p:txBody>
      </p:sp>
      <p:pic>
        <p:nvPicPr>
          <p:cNvPr id="8" name="Picture 7">
            <a:extLst>
              <a:ext uri="{FF2B5EF4-FFF2-40B4-BE49-F238E27FC236}">
                <a16:creationId xmlns:a16="http://schemas.microsoft.com/office/drawing/2014/main" id="{E527CE23-4E50-26D1-F031-44269407E84D}"/>
              </a:ext>
            </a:extLst>
          </p:cNvPr>
          <p:cNvPicPr>
            <a:picLocks noChangeAspect="1"/>
          </p:cNvPicPr>
          <p:nvPr/>
        </p:nvPicPr>
        <p:blipFill>
          <a:blip r:embed="rId2"/>
          <a:stretch>
            <a:fillRect/>
          </a:stretch>
        </p:blipFill>
        <p:spPr>
          <a:xfrm>
            <a:off x="2171703" y="4991100"/>
            <a:ext cx="5372098" cy="2971800"/>
          </a:xfrm>
          <a:prstGeom prst="rect">
            <a:avLst/>
          </a:prstGeom>
        </p:spPr>
      </p:pic>
      <p:pic>
        <p:nvPicPr>
          <p:cNvPr id="10" name="Picture 9">
            <a:extLst>
              <a:ext uri="{FF2B5EF4-FFF2-40B4-BE49-F238E27FC236}">
                <a16:creationId xmlns:a16="http://schemas.microsoft.com/office/drawing/2014/main" id="{E28A56D0-75E7-4E04-6ED8-7B141837A357}"/>
              </a:ext>
            </a:extLst>
          </p:cNvPr>
          <p:cNvPicPr>
            <a:picLocks noChangeAspect="1"/>
          </p:cNvPicPr>
          <p:nvPr/>
        </p:nvPicPr>
        <p:blipFill>
          <a:blip r:embed="rId3"/>
          <a:stretch>
            <a:fillRect/>
          </a:stretch>
        </p:blipFill>
        <p:spPr>
          <a:xfrm>
            <a:off x="10591800" y="5053781"/>
            <a:ext cx="5181600" cy="3200400"/>
          </a:xfrm>
          <a:prstGeom prst="rect">
            <a:avLst/>
          </a:prstGeom>
        </p:spPr>
      </p:pic>
    </p:spTree>
    <p:extLst>
      <p:ext uri="{BB962C8B-B14F-4D97-AF65-F5344CB8AC3E}">
        <p14:creationId xmlns:p14="http://schemas.microsoft.com/office/powerpoint/2010/main" val="1273488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37B28-3411-CDDD-728F-796BE0FA02FD}"/>
              </a:ext>
            </a:extLst>
          </p:cNvPr>
          <p:cNvSpPr>
            <a:spLocks noGrp="1"/>
          </p:cNvSpPr>
          <p:nvPr>
            <p:ph idx="4294967295"/>
          </p:nvPr>
        </p:nvSpPr>
        <p:spPr>
          <a:xfrm>
            <a:off x="1219200" y="1943100"/>
            <a:ext cx="15544800" cy="6870700"/>
          </a:xfrm>
        </p:spPr>
        <p:txBody>
          <a:bodyPr/>
          <a:lstStyle/>
          <a:p>
            <a:pPr marL="0" indent="0">
              <a:buNone/>
            </a:pPr>
            <a:r>
              <a:rPr lang="en-US" b="1" dirty="0"/>
              <a:t>              </a:t>
            </a:r>
          </a:p>
          <a:p>
            <a:pPr marL="0" indent="0">
              <a:buNone/>
            </a:pPr>
            <a:r>
              <a:rPr lang="en-US" b="1" dirty="0"/>
              <a:t>               Employee Table                                        Qualification Table </a:t>
            </a:r>
          </a:p>
        </p:txBody>
      </p:sp>
      <p:pic>
        <p:nvPicPr>
          <p:cNvPr id="5" name="Picture 4">
            <a:extLst>
              <a:ext uri="{FF2B5EF4-FFF2-40B4-BE49-F238E27FC236}">
                <a16:creationId xmlns:a16="http://schemas.microsoft.com/office/drawing/2014/main" id="{2B6C85BC-1D00-7F31-1648-DC1735AB127E}"/>
              </a:ext>
            </a:extLst>
          </p:cNvPr>
          <p:cNvPicPr>
            <a:picLocks noChangeAspect="1"/>
          </p:cNvPicPr>
          <p:nvPr/>
        </p:nvPicPr>
        <p:blipFill>
          <a:blip r:embed="rId2"/>
          <a:stretch>
            <a:fillRect/>
          </a:stretch>
        </p:blipFill>
        <p:spPr>
          <a:xfrm>
            <a:off x="1981200" y="4136923"/>
            <a:ext cx="5562600" cy="2895600"/>
          </a:xfrm>
          <a:prstGeom prst="rect">
            <a:avLst/>
          </a:prstGeom>
        </p:spPr>
      </p:pic>
      <p:pic>
        <p:nvPicPr>
          <p:cNvPr id="7" name="Picture 6">
            <a:extLst>
              <a:ext uri="{FF2B5EF4-FFF2-40B4-BE49-F238E27FC236}">
                <a16:creationId xmlns:a16="http://schemas.microsoft.com/office/drawing/2014/main" id="{B171782A-9C47-09B8-D81B-CF828B01C968}"/>
              </a:ext>
            </a:extLst>
          </p:cNvPr>
          <p:cNvPicPr>
            <a:picLocks noChangeAspect="1"/>
          </p:cNvPicPr>
          <p:nvPr/>
        </p:nvPicPr>
        <p:blipFill>
          <a:blip r:embed="rId3"/>
          <a:stretch>
            <a:fillRect/>
          </a:stretch>
        </p:blipFill>
        <p:spPr>
          <a:xfrm>
            <a:off x="9906000" y="4229100"/>
            <a:ext cx="5562600" cy="3200400"/>
          </a:xfrm>
          <a:prstGeom prst="rect">
            <a:avLst/>
          </a:prstGeom>
        </p:spPr>
      </p:pic>
    </p:spTree>
    <p:extLst>
      <p:ext uri="{BB962C8B-B14F-4D97-AF65-F5344CB8AC3E}">
        <p14:creationId xmlns:p14="http://schemas.microsoft.com/office/powerpoint/2010/main" val="2226632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77C788CE-4EA0-8BA5-2A45-769BA762D7FC}"/>
              </a:ext>
            </a:extLst>
          </p:cNvPr>
          <p:cNvSpPr>
            <a:spLocks noGrp="1"/>
          </p:cNvSpPr>
          <p:nvPr>
            <p:ph idx="4294967295"/>
          </p:nvPr>
        </p:nvSpPr>
        <p:spPr>
          <a:xfrm>
            <a:off x="1524000" y="1943100"/>
            <a:ext cx="15011400" cy="6248400"/>
          </a:xfrm>
        </p:spPr>
        <p:txBody>
          <a:bodyPr/>
          <a:lstStyle/>
          <a:p>
            <a:pPr marL="0" indent="0">
              <a:buNone/>
            </a:pPr>
            <a:r>
              <a:rPr lang="en-US" dirty="0"/>
              <a:t>         </a:t>
            </a:r>
          </a:p>
          <a:p>
            <a:pPr marL="0" indent="0">
              <a:buNone/>
            </a:pPr>
            <a:r>
              <a:rPr lang="en-US" dirty="0"/>
              <a:t>             </a:t>
            </a:r>
            <a:r>
              <a:rPr lang="en-US" sz="4000" b="1" dirty="0"/>
              <a:t>Leave Table                                      </a:t>
            </a:r>
            <a:r>
              <a:rPr lang="en-US" sz="4000" b="1" dirty="0" err="1"/>
              <a:t>PayRoll</a:t>
            </a:r>
            <a:r>
              <a:rPr lang="en-US" sz="4000" b="1" dirty="0"/>
              <a:t> Table</a:t>
            </a:r>
            <a:endParaRPr lang="en-IN" sz="4000" b="1" dirty="0"/>
          </a:p>
        </p:txBody>
      </p:sp>
      <p:pic>
        <p:nvPicPr>
          <p:cNvPr id="8" name="Content Placeholder 4">
            <a:extLst>
              <a:ext uri="{FF2B5EF4-FFF2-40B4-BE49-F238E27FC236}">
                <a16:creationId xmlns:a16="http://schemas.microsoft.com/office/drawing/2014/main" id="{5246B86D-AC62-BEB2-4CE0-BBDDCB303A0A}"/>
              </a:ext>
            </a:extLst>
          </p:cNvPr>
          <p:cNvPicPr>
            <a:picLocks noChangeAspect="1"/>
          </p:cNvPicPr>
          <p:nvPr/>
        </p:nvPicPr>
        <p:blipFill>
          <a:blip r:embed="rId2"/>
          <a:stretch>
            <a:fillRect/>
          </a:stretch>
        </p:blipFill>
        <p:spPr>
          <a:xfrm>
            <a:off x="2286000" y="3924300"/>
            <a:ext cx="4648204" cy="3048000"/>
          </a:xfrm>
          <a:prstGeom prst="rect">
            <a:avLst/>
          </a:prstGeom>
        </p:spPr>
      </p:pic>
      <p:pic>
        <p:nvPicPr>
          <p:cNvPr id="10" name="Picture 9">
            <a:extLst>
              <a:ext uri="{FF2B5EF4-FFF2-40B4-BE49-F238E27FC236}">
                <a16:creationId xmlns:a16="http://schemas.microsoft.com/office/drawing/2014/main" id="{B67A5B59-AD39-AD7F-1090-C6F187AEF147}"/>
              </a:ext>
            </a:extLst>
          </p:cNvPr>
          <p:cNvPicPr>
            <a:picLocks noChangeAspect="1"/>
          </p:cNvPicPr>
          <p:nvPr/>
        </p:nvPicPr>
        <p:blipFill>
          <a:blip r:embed="rId3"/>
          <a:stretch>
            <a:fillRect/>
          </a:stretch>
        </p:blipFill>
        <p:spPr>
          <a:xfrm>
            <a:off x="9601200" y="4076700"/>
            <a:ext cx="4800600" cy="2743200"/>
          </a:xfrm>
          <a:prstGeom prst="rect">
            <a:avLst/>
          </a:prstGeom>
        </p:spPr>
      </p:pic>
    </p:spTree>
    <p:extLst>
      <p:ext uri="{BB962C8B-B14F-4D97-AF65-F5344CB8AC3E}">
        <p14:creationId xmlns:p14="http://schemas.microsoft.com/office/powerpoint/2010/main" val="3926466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A56517-775E-6EB4-E70E-74927DE28F3C}"/>
              </a:ext>
            </a:extLst>
          </p:cNvPr>
          <p:cNvSpPr>
            <a:spLocks noGrp="1"/>
          </p:cNvSpPr>
          <p:nvPr>
            <p:ph type="title" idx="4294967295"/>
          </p:nvPr>
        </p:nvSpPr>
        <p:spPr>
          <a:xfrm>
            <a:off x="1828800" y="1257300"/>
            <a:ext cx="14325600" cy="1143000"/>
          </a:xfrm>
        </p:spPr>
        <p:txBody>
          <a:bodyPr/>
          <a:lstStyle/>
          <a:p>
            <a:r>
              <a:rPr lang="en-IN" dirty="0"/>
              <a:t>ER Diagram</a:t>
            </a:r>
          </a:p>
        </p:txBody>
      </p:sp>
      <p:sp>
        <p:nvSpPr>
          <p:cNvPr id="7" name="Rectangle 3">
            <a:extLst>
              <a:ext uri="{FF2B5EF4-FFF2-40B4-BE49-F238E27FC236}">
                <a16:creationId xmlns:a16="http://schemas.microsoft.com/office/drawing/2014/main" id="{63709FB0-4BAB-EA2A-81CE-1A98F3D3B761}"/>
              </a:ext>
            </a:extLst>
          </p:cNvPr>
          <p:cNvSpPr>
            <a:spLocks noChangeArrowheads="1"/>
          </p:cNvSpPr>
          <p:nvPr/>
        </p:nvSpPr>
        <p:spPr bwMode="auto">
          <a:xfrm>
            <a:off x="2057400" y="3371112"/>
            <a:ext cx="22681650" cy="6417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35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2" name="Picture 4">
            <a:extLst>
              <a:ext uri="{FF2B5EF4-FFF2-40B4-BE49-F238E27FC236}">
                <a16:creationId xmlns:a16="http://schemas.microsoft.com/office/drawing/2014/main" id="{C0A92DDC-1C8F-EB8C-CE46-860881027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781301"/>
            <a:ext cx="12954000" cy="5943600"/>
          </a:xfrm>
          <a:prstGeom prst="rect">
            <a:avLst/>
          </a:prstGeom>
          <a:noFill/>
          <a:extLst>
            <a:ext uri="{909E8E84-426E-40DD-AFC4-6F175D3DCCD1}">
              <a14:hiddenFill xmlns:a14="http://schemas.microsoft.com/office/drawing/2010/main">
                <a:solidFill>
                  <a:srgbClr val="FFFFFF"/>
                </a:solidFill>
              </a14:hiddenFill>
            </a:ext>
          </a:extLst>
        </p:spPr>
      </p:pic>
      <p:pic>
        <p:nvPicPr>
          <p:cNvPr id="8" name="object 12">
            <a:extLst>
              <a:ext uri="{FF2B5EF4-FFF2-40B4-BE49-F238E27FC236}">
                <a16:creationId xmlns:a16="http://schemas.microsoft.com/office/drawing/2014/main" id="{52F7D4F0-2AEA-63AF-EDE5-24B102F82E23}"/>
              </a:ext>
            </a:extLst>
          </p:cNvPr>
          <p:cNvPicPr/>
          <p:nvPr/>
        </p:nvPicPr>
        <p:blipFill>
          <a:blip r:embed="rId3"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924112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9672A-444F-967F-438F-9A3307D587A3}"/>
              </a:ext>
            </a:extLst>
          </p:cNvPr>
          <p:cNvSpPr>
            <a:spLocks noGrp="1"/>
          </p:cNvSpPr>
          <p:nvPr>
            <p:ph type="title" idx="4294967295"/>
          </p:nvPr>
        </p:nvSpPr>
        <p:spPr>
          <a:xfrm>
            <a:off x="1524000" y="1473200"/>
            <a:ext cx="14935200" cy="1460500"/>
          </a:xfrm>
        </p:spPr>
        <p:txBody>
          <a:bodyPr/>
          <a:lstStyle/>
          <a:p>
            <a:r>
              <a:rPr lang="en-IN" dirty="0"/>
              <a:t>  Problem Statement </a:t>
            </a:r>
          </a:p>
        </p:txBody>
      </p:sp>
      <p:sp>
        <p:nvSpPr>
          <p:cNvPr id="3" name="Content Placeholder 2">
            <a:extLst>
              <a:ext uri="{FF2B5EF4-FFF2-40B4-BE49-F238E27FC236}">
                <a16:creationId xmlns:a16="http://schemas.microsoft.com/office/drawing/2014/main" id="{31026F3A-3340-4585-0EFE-39796EE61B42}"/>
              </a:ext>
            </a:extLst>
          </p:cNvPr>
          <p:cNvSpPr>
            <a:spLocks noGrp="1"/>
          </p:cNvSpPr>
          <p:nvPr>
            <p:ph idx="4294967295"/>
          </p:nvPr>
        </p:nvSpPr>
        <p:spPr>
          <a:xfrm>
            <a:off x="1676400" y="3238500"/>
            <a:ext cx="14782800" cy="5791200"/>
          </a:xfrm>
        </p:spPr>
        <p:txBody>
          <a:bodyPr>
            <a:normAutofit fontScale="92500"/>
          </a:bodyPr>
          <a:lstStyle/>
          <a:p>
            <a:pPr>
              <a:buClr>
                <a:schemeClr val="tx1"/>
              </a:buClr>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p>
          <a:p>
            <a:pPr>
              <a:buClr>
                <a:schemeClr val="tx1"/>
              </a:buClr>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rPr>
              <a:t>The system allows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p>
          <a:p>
            <a:pPr marL="0" indent="0">
              <a:buNone/>
            </a:pPr>
            <a:endParaRPr lang="en-US" dirty="0"/>
          </a:p>
        </p:txBody>
      </p:sp>
      <p:pic>
        <p:nvPicPr>
          <p:cNvPr id="4" name="object 12">
            <a:extLst>
              <a:ext uri="{FF2B5EF4-FFF2-40B4-BE49-F238E27FC236}">
                <a16:creationId xmlns:a16="http://schemas.microsoft.com/office/drawing/2014/main" id="{5964390E-9BCB-AF39-1747-3F8D713874A4}"/>
              </a:ext>
            </a:extLst>
          </p:cNvPr>
          <p:cNvPicPr/>
          <p:nvPr/>
        </p:nvPicPr>
        <p:blipFill>
          <a:blip r:embed="rId2" cstate="print"/>
          <a:stretch>
            <a:fillRect/>
          </a:stretch>
        </p:blipFill>
        <p:spPr>
          <a:xfrm>
            <a:off x="0" y="114300"/>
            <a:ext cx="4514849" cy="809625"/>
          </a:xfrm>
          <a:prstGeom prst="rect">
            <a:avLst/>
          </a:prstGeom>
        </p:spPr>
      </p:pic>
    </p:spTree>
    <p:extLst>
      <p:ext uri="{BB962C8B-B14F-4D97-AF65-F5344CB8AC3E}">
        <p14:creationId xmlns:p14="http://schemas.microsoft.com/office/powerpoint/2010/main" val="1009862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D3FA-C5C5-8CB1-93FD-69228E6EA479}"/>
              </a:ext>
            </a:extLst>
          </p:cNvPr>
          <p:cNvSpPr>
            <a:spLocks noGrp="1"/>
          </p:cNvSpPr>
          <p:nvPr>
            <p:ph type="title"/>
          </p:nvPr>
        </p:nvSpPr>
        <p:spPr/>
        <p:txBody>
          <a:bodyPr>
            <a:normAutofit/>
          </a:bodyPr>
          <a:lstStyle/>
          <a:p>
            <a:r>
              <a:rPr lang="en-IN" sz="4800" dirty="0"/>
              <a:t>1</a:t>
            </a:r>
            <a:r>
              <a:rPr lang="en-IN" sz="4400" dirty="0"/>
              <a:t>.</a:t>
            </a:r>
            <a:r>
              <a:rPr lang="en-US" sz="4400" dirty="0"/>
              <a:t> How many unique employees are currently in the system?</a:t>
            </a:r>
            <a:endParaRPr lang="en-IN" sz="4400" dirty="0"/>
          </a:p>
        </p:txBody>
      </p:sp>
      <p:pic>
        <p:nvPicPr>
          <p:cNvPr id="5" name="Content Placeholder 4">
            <a:extLst>
              <a:ext uri="{FF2B5EF4-FFF2-40B4-BE49-F238E27FC236}">
                <a16:creationId xmlns:a16="http://schemas.microsoft.com/office/drawing/2014/main" id="{BA533C75-8B66-F61A-D8C3-DCCF68F7D91E}"/>
              </a:ext>
            </a:extLst>
          </p:cNvPr>
          <p:cNvPicPr>
            <a:picLocks noGrp="1" noChangeAspect="1"/>
          </p:cNvPicPr>
          <p:nvPr>
            <p:ph idx="1"/>
          </p:nvPr>
        </p:nvPicPr>
        <p:blipFill>
          <a:blip r:embed="rId2"/>
          <a:stretch>
            <a:fillRect/>
          </a:stretch>
        </p:blipFill>
        <p:spPr>
          <a:xfrm>
            <a:off x="3276600" y="4381499"/>
            <a:ext cx="4191000" cy="1955801"/>
          </a:xfrm>
          <a:prstGeom prst="rect">
            <a:avLst/>
          </a:prstGeom>
        </p:spPr>
      </p:pic>
      <p:pic>
        <p:nvPicPr>
          <p:cNvPr id="7" name="Picture 6">
            <a:extLst>
              <a:ext uri="{FF2B5EF4-FFF2-40B4-BE49-F238E27FC236}">
                <a16:creationId xmlns:a16="http://schemas.microsoft.com/office/drawing/2014/main" id="{B200CE26-F254-8B3A-4095-204891EA3F84}"/>
              </a:ext>
            </a:extLst>
          </p:cNvPr>
          <p:cNvPicPr>
            <a:picLocks noChangeAspect="1"/>
          </p:cNvPicPr>
          <p:nvPr/>
        </p:nvPicPr>
        <p:blipFill>
          <a:blip r:embed="rId3"/>
          <a:stretch>
            <a:fillRect/>
          </a:stretch>
        </p:blipFill>
        <p:spPr>
          <a:xfrm>
            <a:off x="10515602" y="6451601"/>
            <a:ext cx="3962400" cy="2362200"/>
          </a:xfrm>
          <a:prstGeom prst="rect">
            <a:avLst/>
          </a:prstGeom>
        </p:spPr>
      </p:pic>
      <p:pic>
        <p:nvPicPr>
          <p:cNvPr id="8" name="object 12">
            <a:extLst>
              <a:ext uri="{FF2B5EF4-FFF2-40B4-BE49-F238E27FC236}">
                <a16:creationId xmlns:a16="http://schemas.microsoft.com/office/drawing/2014/main" id="{8DFF5CC8-AD46-8A36-CF6E-363AC92780A2}"/>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500335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4DE2-0B75-F9E7-06AB-7F0EEC36F277}"/>
              </a:ext>
            </a:extLst>
          </p:cNvPr>
          <p:cNvSpPr>
            <a:spLocks noGrp="1"/>
          </p:cNvSpPr>
          <p:nvPr>
            <p:ph type="title"/>
          </p:nvPr>
        </p:nvSpPr>
        <p:spPr/>
        <p:txBody>
          <a:bodyPr>
            <a:normAutofit/>
          </a:bodyPr>
          <a:lstStyle/>
          <a:p>
            <a:r>
              <a:rPr lang="en-IN" sz="4400" dirty="0"/>
              <a:t>2. </a:t>
            </a:r>
            <a:r>
              <a:rPr lang="en-US" sz="4900" dirty="0"/>
              <a:t>Which departments have the highest number of employees?</a:t>
            </a:r>
            <a:endParaRPr lang="en-IN" sz="4900" dirty="0"/>
          </a:p>
        </p:txBody>
      </p:sp>
      <p:pic>
        <p:nvPicPr>
          <p:cNvPr id="5" name="Content Placeholder 4">
            <a:extLst>
              <a:ext uri="{FF2B5EF4-FFF2-40B4-BE49-F238E27FC236}">
                <a16:creationId xmlns:a16="http://schemas.microsoft.com/office/drawing/2014/main" id="{4886F1FF-6B44-74F5-C82A-DFE3AF4D91E4}"/>
              </a:ext>
            </a:extLst>
          </p:cNvPr>
          <p:cNvPicPr>
            <a:picLocks noGrp="1" noChangeAspect="1"/>
          </p:cNvPicPr>
          <p:nvPr>
            <p:ph idx="1"/>
          </p:nvPr>
        </p:nvPicPr>
        <p:blipFill>
          <a:blip r:embed="rId2"/>
          <a:stretch>
            <a:fillRect/>
          </a:stretch>
        </p:blipFill>
        <p:spPr>
          <a:xfrm>
            <a:off x="2667000" y="4152900"/>
            <a:ext cx="5943600" cy="2895600"/>
          </a:xfrm>
          <a:prstGeom prst="rect">
            <a:avLst/>
          </a:prstGeom>
        </p:spPr>
      </p:pic>
      <p:pic>
        <p:nvPicPr>
          <p:cNvPr id="7" name="Picture 6">
            <a:extLst>
              <a:ext uri="{FF2B5EF4-FFF2-40B4-BE49-F238E27FC236}">
                <a16:creationId xmlns:a16="http://schemas.microsoft.com/office/drawing/2014/main" id="{D96228C0-8018-8F86-16A8-E68BB76F81D8}"/>
              </a:ext>
            </a:extLst>
          </p:cNvPr>
          <p:cNvPicPr>
            <a:picLocks noChangeAspect="1"/>
          </p:cNvPicPr>
          <p:nvPr/>
        </p:nvPicPr>
        <p:blipFill>
          <a:blip r:embed="rId3"/>
          <a:stretch>
            <a:fillRect/>
          </a:stretch>
        </p:blipFill>
        <p:spPr>
          <a:xfrm>
            <a:off x="10515600" y="7044813"/>
            <a:ext cx="3276600" cy="1955801"/>
          </a:xfrm>
          <a:prstGeom prst="rect">
            <a:avLst/>
          </a:prstGeom>
        </p:spPr>
      </p:pic>
      <p:pic>
        <p:nvPicPr>
          <p:cNvPr id="8" name="object 12">
            <a:extLst>
              <a:ext uri="{FF2B5EF4-FFF2-40B4-BE49-F238E27FC236}">
                <a16:creationId xmlns:a16="http://schemas.microsoft.com/office/drawing/2014/main" id="{5EFA06CB-BAF6-94BB-BDC0-C485C31B741A}"/>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779360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546DF-CCD0-5CB8-8C09-F65B850D6146}"/>
              </a:ext>
            </a:extLst>
          </p:cNvPr>
          <p:cNvSpPr>
            <a:spLocks noGrp="1"/>
          </p:cNvSpPr>
          <p:nvPr>
            <p:ph type="title"/>
          </p:nvPr>
        </p:nvSpPr>
        <p:spPr/>
        <p:txBody>
          <a:bodyPr>
            <a:normAutofit/>
          </a:bodyPr>
          <a:lstStyle/>
          <a:p>
            <a:r>
              <a:rPr lang="en-IN" sz="4400" dirty="0"/>
              <a:t>3. </a:t>
            </a:r>
            <a:r>
              <a:rPr lang="en-US" sz="4400" dirty="0"/>
              <a:t>What is the average salary per department?</a:t>
            </a:r>
            <a:endParaRPr lang="en-IN" sz="4400" dirty="0"/>
          </a:p>
        </p:txBody>
      </p:sp>
      <p:pic>
        <p:nvPicPr>
          <p:cNvPr id="5" name="Content Placeholder 4">
            <a:extLst>
              <a:ext uri="{FF2B5EF4-FFF2-40B4-BE49-F238E27FC236}">
                <a16:creationId xmlns:a16="http://schemas.microsoft.com/office/drawing/2014/main" id="{25ADBD25-F928-0E3B-4FFD-7D1C37C3D1EB}"/>
              </a:ext>
            </a:extLst>
          </p:cNvPr>
          <p:cNvPicPr>
            <a:picLocks noGrp="1" noChangeAspect="1"/>
          </p:cNvPicPr>
          <p:nvPr>
            <p:ph idx="1"/>
          </p:nvPr>
        </p:nvPicPr>
        <p:blipFill>
          <a:blip r:embed="rId2"/>
          <a:stretch>
            <a:fillRect/>
          </a:stretch>
        </p:blipFill>
        <p:spPr>
          <a:xfrm>
            <a:off x="2667000" y="4229100"/>
            <a:ext cx="4724400" cy="2438399"/>
          </a:xfrm>
          <a:prstGeom prst="rect">
            <a:avLst/>
          </a:prstGeom>
        </p:spPr>
      </p:pic>
      <p:pic>
        <p:nvPicPr>
          <p:cNvPr id="8" name="object 12">
            <a:extLst>
              <a:ext uri="{FF2B5EF4-FFF2-40B4-BE49-F238E27FC236}">
                <a16:creationId xmlns:a16="http://schemas.microsoft.com/office/drawing/2014/main" id="{9BDA2151-4CA2-F7C7-03CF-7F746BF945F9}"/>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AB7CB8FD-AF4A-FA58-AA53-CE182595DC6D}"/>
              </a:ext>
            </a:extLst>
          </p:cNvPr>
          <p:cNvPicPr>
            <a:picLocks noChangeAspect="1"/>
          </p:cNvPicPr>
          <p:nvPr/>
        </p:nvPicPr>
        <p:blipFill>
          <a:blip r:embed="rId4"/>
          <a:stretch>
            <a:fillRect/>
          </a:stretch>
        </p:blipFill>
        <p:spPr>
          <a:xfrm>
            <a:off x="10668000" y="5295900"/>
            <a:ext cx="4191000" cy="3206544"/>
          </a:xfrm>
          <a:prstGeom prst="rect">
            <a:avLst/>
          </a:prstGeom>
        </p:spPr>
      </p:pic>
    </p:spTree>
    <p:extLst>
      <p:ext uri="{BB962C8B-B14F-4D97-AF65-F5344CB8AC3E}">
        <p14:creationId xmlns:p14="http://schemas.microsoft.com/office/powerpoint/2010/main" val="952306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B1CFB-FAD7-2A51-EC60-2DD1309C206B}"/>
              </a:ext>
            </a:extLst>
          </p:cNvPr>
          <p:cNvSpPr>
            <a:spLocks noGrp="1"/>
          </p:cNvSpPr>
          <p:nvPr>
            <p:ph type="title"/>
          </p:nvPr>
        </p:nvSpPr>
        <p:spPr/>
        <p:txBody>
          <a:bodyPr>
            <a:normAutofit/>
          </a:bodyPr>
          <a:lstStyle/>
          <a:p>
            <a:r>
              <a:rPr lang="en-US" sz="4400" dirty="0"/>
              <a:t>4. Who are the top 5 highest-paid employees?</a:t>
            </a:r>
            <a:endParaRPr lang="en-IN" sz="4400" dirty="0"/>
          </a:p>
        </p:txBody>
      </p:sp>
      <p:pic>
        <p:nvPicPr>
          <p:cNvPr id="8" name="object 12">
            <a:extLst>
              <a:ext uri="{FF2B5EF4-FFF2-40B4-BE49-F238E27FC236}">
                <a16:creationId xmlns:a16="http://schemas.microsoft.com/office/drawing/2014/main" id="{03861023-8110-4298-B156-0887E5497D61}"/>
              </a:ext>
            </a:extLst>
          </p:cNvPr>
          <p:cNvPicPr/>
          <p:nvPr/>
        </p:nvPicPr>
        <p:blipFill>
          <a:blip r:embed="rId2" cstate="print"/>
          <a:stretch>
            <a:fillRect/>
          </a:stretch>
        </p:blipFill>
        <p:spPr>
          <a:xfrm>
            <a:off x="0" y="9524"/>
            <a:ext cx="4514849" cy="809625"/>
          </a:xfrm>
          <a:prstGeom prst="rect">
            <a:avLst/>
          </a:prstGeom>
        </p:spPr>
      </p:pic>
      <p:pic>
        <p:nvPicPr>
          <p:cNvPr id="9" name="Content Placeholder 8">
            <a:extLst>
              <a:ext uri="{FF2B5EF4-FFF2-40B4-BE49-F238E27FC236}">
                <a16:creationId xmlns:a16="http://schemas.microsoft.com/office/drawing/2014/main" id="{AC4A99CB-B15E-EE0B-C6D7-56012378F29C}"/>
              </a:ext>
            </a:extLst>
          </p:cNvPr>
          <p:cNvPicPr>
            <a:picLocks noGrp="1" noChangeAspect="1"/>
          </p:cNvPicPr>
          <p:nvPr>
            <p:ph idx="1"/>
          </p:nvPr>
        </p:nvPicPr>
        <p:blipFill>
          <a:blip r:embed="rId3"/>
          <a:stretch>
            <a:fillRect/>
          </a:stretch>
        </p:blipFill>
        <p:spPr>
          <a:xfrm>
            <a:off x="2438400" y="4083050"/>
            <a:ext cx="6172200" cy="3429000"/>
          </a:xfrm>
          <a:prstGeom prst="rect">
            <a:avLst/>
          </a:prstGeom>
        </p:spPr>
      </p:pic>
      <p:pic>
        <p:nvPicPr>
          <p:cNvPr id="11" name="Picture 10">
            <a:extLst>
              <a:ext uri="{FF2B5EF4-FFF2-40B4-BE49-F238E27FC236}">
                <a16:creationId xmlns:a16="http://schemas.microsoft.com/office/drawing/2014/main" id="{D6439A9B-6B04-5EBA-8E45-8321D6292C08}"/>
              </a:ext>
            </a:extLst>
          </p:cNvPr>
          <p:cNvPicPr>
            <a:picLocks noChangeAspect="1"/>
          </p:cNvPicPr>
          <p:nvPr/>
        </p:nvPicPr>
        <p:blipFill>
          <a:blip r:embed="rId4"/>
          <a:stretch>
            <a:fillRect/>
          </a:stretch>
        </p:blipFill>
        <p:spPr>
          <a:xfrm>
            <a:off x="10820400" y="6030569"/>
            <a:ext cx="3657600" cy="2962961"/>
          </a:xfrm>
          <a:prstGeom prst="rect">
            <a:avLst/>
          </a:prstGeom>
        </p:spPr>
      </p:pic>
    </p:spTree>
    <p:extLst>
      <p:ext uri="{BB962C8B-B14F-4D97-AF65-F5344CB8AC3E}">
        <p14:creationId xmlns:p14="http://schemas.microsoft.com/office/powerpoint/2010/main" val="1904019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C1DD7-10FF-AF9B-D503-A27F94ADAE83}"/>
              </a:ext>
            </a:extLst>
          </p:cNvPr>
          <p:cNvSpPr>
            <a:spLocks noGrp="1"/>
          </p:cNvSpPr>
          <p:nvPr>
            <p:ph type="title"/>
          </p:nvPr>
        </p:nvSpPr>
        <p:spPr/>
        <p:txBody>
          <a:bodyPr>
            <a:normAutofit/>
          </a:bodyPr>
          <a:lstStyle/>
          <a:p>
            <a:r>
              <a:rPr lang="en-IN" sz="4400" dirty="0"/>
              <a:t>5. </a:t>
            </a:r>
            <a:r>
              <a:rPr lang="en-US" sz="4400" dirty="0"/>
              <a:t>What is the total salary expenditure across the company?</a:t>
            </a:r>
            <a:endParaRPr lang="en-IN" sz="4400" dirty="0"/>
          </a:p>
        </p:txBody>
      </p:sp>
      <p:pic>
        <p:nvPicPr>
          <p:cNvPr id="5" name="Content Placeholder 4">
            <a:extLst>
              <a:ext uri="{FF2B5EF4-FFF2-40B4-BE49-F238E27FC236}">
                <a16:creationId xmlns:a16="http://schemas.microsoft.com/office/drawing/2014/main" id="{6CD09D9B-AE39-E462-973F-0B73BD3D4BD8}"/>
              </a:ext>
            </a:extLst>
          </p:cNvPr>
          <p:cNvPicPr>
            <a:picLocks noGrp="1" noChangeAspect="1"/>
          </p:cNvPicPr>
          <p:nvPr>
            <p:ph idx="1"/>
          </p:nvPr>
        </p:nvPicPr>
        <p:blipFill>
          <a:blip r:embed="rId2"/>
          <a:stretch>
            <a:fillRect/>
          </a:stretch>
        </p:blipFill>
        <p:spPr>
          <a:xfrm>
            <a:off x="2286000" y="4152900"/>
            <a:ext cx="6553200" cy="1676400"/>
          </a:xfrm>
          <a:prstGeom prst="rect">
            <a:avLst/>
          </a:prstGeom>
        </p:spPr>
      </p:pic>
      <p:pic>
        <p:nvPicPr>
          <p:cNvPr id="7" name="Picture 6">
            <a:extLst>
              <a:ext uri="{FF2B5EF4-FFF2-40B4-BE49-F238E27FC236}">
                <a16:creationId xmlns:a16="http://schemas.microsoft.com/office/drawing/2014/main" id="{2F49FA96-514D-974E-B6E2-E328AB81D57F}"/>
              </a:ext>
            </a:extLst>
          </p:cNvPr>
          <p:cNvPicPr>
            <a:picLocks noChangeAspect="1"/>
          </p:cNvPicPr>
          <p:nvPr/>
        </p:nvPicPr>
        <p:blipFill>
          <a:blip r:embed="rId3"/>
          <a:stretch>
            <a:fillRect/>
          </a:stretch>
        </p:blipFill>
        <p:spPr>
          <a:xfrm>
            <a:off x="9906000" y="6515100"/>
            <a:ext cx="5715000" cy="1676400"/>
          </a:xfrm>
          <a:prstGeom prst="rect">
            <a:avLst/>
          </a:prstGeom>
        </p:spPr>
      </p:pic>
      <p:pic>
        <p:nvPicPr>
          <p:cNvPr id="8" name="object 12">
            <a:extLst>
              <a:ext uri="{FF2B5EF4-FFF2-40B4-BE49-F238E27FC236}">
                <a16:creationId xmlns:a16="http://schemas.microsoft.com/office/drawing/2014/main" id="{E41AACBF-DB7E-C6A7-F9F0-8DAE13C61BEC}"/>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452383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1725-C0DD-141E-4C2C-D139F588FB80}"/>
              </a:ext>
            </a:extLst>
          </p:cNvPr>
          <p:cNvSpPr>
            <a:spLocks noGrp="1"/>
          </p:cNvSpPr>
          <p:nvPr>
            <p:ph type="title"/>
          </p:nvPr>
        </p:nvSpPr>
        <p:spPr/>
        <p:txBody>
          <a:bodyPr>
            <a:normAutofit/>
          </a:bodyPr>
          <a:lstStyle/>
          <a:p>
            <a:r>
              <a:rPr lang="en-IN" sz="4400" dirty="0"/>
              <a:t>6. </a:t>
            </a:r>
            <a:r>
              <a:rPr lang="en-US" sz="4400" dirty="0"/>
              <a:t>How many different job roles exist in each department?</a:t>
            </a:r>
            <a:endParaRPr lang="en-IN" sz="4400" dirty="0"/>
          </a:p>
        </p:txBody>
      </p:sp>
      <p:pic>
        <p:nvPicPr>
          <p:cNvPr id="5" name="Content Placeholder 4">
            <a:extLst>
              <a:ext uri="{FF2B5EF4-FFF2-40B4-BE49-F238E27FC236}">
                <a16:creationId xmlns:a16="http://schemas.microsoft.com/office/drawing/2014/main" id="{FD260950-9F45-386C-2958-E37F07DFF754}"/>
              </a:ext>
            </a:extLst>
          </p:cNvPr>
          <p:cNvPicPr>
            <a:picLocks noGrp="1" noChangeAspect="1"/>
          </p:cNvPicPr>
          <p:nvPr>
            <p:ph idx="1"/>
          </p:nvPr>
        </p:nvPicPr>
        <p:blipFill>
          <a:blip r:embed="rId2"/>
          <a:stretch>
            <a:fillRect/>
          </a:stretch>
        </p:blipFill>
        <p:spPr>
          <a:xfrm>
            <a:off x="2286000" y="4076699"/>
            <a:ext cx="5562600" cy="1955801"/>
          </a:xfrm>
          <a:prstGeom prst="rect">
            <a:avLst/>
          </a:prstGeom>
        </p:spPr>
      </p:pic>
      <p:pic>
        <p:nvPicPr>
          <p:cNvPr id="8" name="object 12">
            <a:extLst>
              <a:ext uri="{FF2B5EF4-FFF2-40B4-BE49-F238E27FC236}">
                <a16:creationId xmlns:a16="http://schemas.microsoft.com/office/drawing/2014/main" id="{882EAEFB-32EE-24DF-794F-8363D3930F44}"/>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29075C0B-0D8D-179D-59F7-B5685C4D730E}"/>
              </a:ext>
            </a:extLst>
          </p:cNvPr>
          <p:cNvPicPr>
            <a:picLocks noChangeAspect="1"/>
          </p:cNvPicPr>
          <p:nvPr/>
        </p:nvPicPr>
        <p:blipFill>
          <a:blip r:embed="rId4"/>
          <a:stretch>
            <a:fillRect/>
          </a:stretch>
        </p:blipFill>
        <p:spPr>
          <a:xfrm>
            <a:off x="10058400" y="5448299"/>
            <a:ext cx="4953000" cy="3365501"/>
          </a:xfrm>
          <a:prstGeom prst="rect">
            <a:avLst/>
          </a:prstGeom>
        </p:spPr>
      </p:pic>
    </p:spTree>
    <p:extLst>
      <p:ext uri="{BB962C8B-B14F-4D97-AF65-F5344CB8AC3E}">
        <p14:creationId xmlns:p14="http://schemas.microsoft.com/office/powerpoint/2010/main" val="3265666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91F35-5661-44FA-A884-A0400BF680BC}"/>
              </a:ext>
            </a:extLst>
          </p:cNvPr>
          <p:cNvSpPr>
            <a:spLocks noGrp="1"/>
          </p:cNvSpPr>
          <p:nvPr>
            <p:ph type="title"/>
          </p:nvPr>
        </p:nvSpPr>
        <p:spPr/>
        <p:txBody>
          <a:bodyPr>
            <a:normAutofit/>
          </a:bodyPr>
          <a:lstStyle/>
          <a:p>
            <a:r>
              <a:rPr lang="en-IN" sz="4400" dirty="0"/>
              <a:t>7. </a:t>
            </a:r>
            <a:r>
              <a:rPr lang="en-US" sz="4400" dirty="0"/>
              <a:t>What is the average salary range per department?</a:t>
            </a:r>
            <a:endParaRPr lang="en-IN" sz="4400" dirty="0"/>
          </a:p>
        </p:txBody>
      </p:sp>
      <p:pic>
        <p:nvPicPr>
          <p:cNvPr id="6" name="object 12">
            <a:extLst>
              <a:ext uri="{FF2B5EF4-FFF2-40B4-BE49-F238E27FC236}">
                <a16:creationId xmlns:a16="http://schemas.microsoft.com/office/drawing/2014/main" id="{722FE2FA-857D-6CE1-CAD9-956232D7FF88}"/>
              </a:ext>
            </a:extLst>
          </p:cNvPr>
          <p:cNvPicPr/>
          <p:nvPr/>
        </p:nvPicPr>
        <p:blipFill>
          <a:blip r:embed="rId2" cstate="print"/>
          <a:stretch>
            <a:fillRect/>
          </a:stretch>
        </p:blipFill>
        <p:spPr>
          <a:xfrm>
            <a:off x="0" y="9524"/>
            <a:ext cx="4514849" cy="809625"/>
          </a:xfrm>
          <a:prstGeom prst="rect">
            <a:avLst/>
          </a:prstGeom>
        </p:spPr>
      </p:pic>
      <p:pic>
        <p:nvPicPr>
          <p:cNvPr id="9" name="Content Placeholder 4">
            <a:extLst>
              <a:ext uri="{FF2B5EF4-FFF2-40B4-BE49-F238E27FC236}">
                <a16:creationId xmlns:a16="http://schemas.microsoft.com/office/drawing/2014/main" id="{A438B9DE-1D5F-DF79-748A-4B8664F7B6B2}"/>
              </a:ext>
            </a:extLst>
          </p:cNvPr>
          <p:cNvPicPr>
            <a:picLocks noGrp="1" noChangeAspect="1"/>
          </p:cNvPicPr>
          <p:nvPr>
            <p:ph idx="1"/>
          </p:nvPr>
        </p:nvPicPr>
        <p:blipFill>
          <a:blip r:embed="rId3"/>
          <a:stretch>
            <a:fillRect/>
          </a:stretch>
        </p:blipFill>
        <p:spPr>
          <a:xfrm>
            <a:off x="2245134" y="4099027"/>
            <a:ext cx="6515097" cy="2895600"/>
          </a:xfrm>
          <a:prstGeom prst="rect">
            <a:avLst/>
          </a:prstGeom>
        </p:spPr>
      </p:pic>
      <p:pic>
        <p:nvPicPr>
          <p:cNvPr id="11" name="Picture 10">
            <a:extLst>
              <a:ext uri="{FF2B5EF4-FFF2-40B4-BE49-F238E27FC236}">
                <a16:creationId xmlns:a16="http://schemas.microsoft.com/office/drawing/2014/main" id="{BA0280DC-7270-AF0F-34E9-A9EAB344E78D}"/>
              </a:ext>
            </a:extLst>
          </p:cNvPr>
          <p:cNvPicPr>
            <a:picLocks noChangeAspect="1"/>
          </p:cNvPicPr>
          <p:nvPr/>
        </p:nvPicPr>
        <p:blipFill>
          <a:blip r:embed="rId4"/>
          <a:stretch>
            <a:fillRect/>
          </a:stretch>
        </p:blipFill>
        <p:spPr>
          <a:xfrm>
            <a:off x="10210800" y="5372100"/>
            <a:ext cx="4114800" cy="3690394"/>
          </a:xfrm>
          <a:prstGeom prst="rect">
            <a:avLst/>
          </a:prstGeom>
        </p:spPr>
      </p:pic>
    </p:spTree>
    <p:extLst>
      <p:ext uri="{BB962C8B-B14F-4D97-AF65-F5344CB8AC3E}">
        <p14:creationId xmlns:p14="http://schemas.microsoft.com/office/powerpoint/2010/main" val="3901218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475A-F92E-2A6D-06BC-BA2C046D5EA9}"/>
              </a:ext>
            </a:extLst>
          </p:cNvPr>
          <p:cNvSpPr>
            <a:spLocks noGrp="1"/>
          </p:cNvSpPr>
          <p:nvPr>
            <p:ph type="title"/>
          </p:nvPr>
        </p:nvSpPr>
        <p:spPr/>
        <p:txBody>
          <a:bodyPr>
            <a:normAutofit/>
          </a:bodyPr>
          <a:lstStyle/>
          <a:p>
            <a:r>
              <a:rPr lang="en-IN" sz="4900" dirty="0"/>
              <a:t>8. </a:t>
            </a:r>
            <a:r>
              <a:rPr lang="en-US" sz="4900" dirty="0"/>
              <a:t>Which job roles offer the highest salary?</a:t>
            </a:r>
            <a:br>
              <a:rPr lang="en-US" dirty="0"/>
            </a:br>
            <a:endParaRPr lang="en-IN" dirty="0"/>
          </a:p>
        </p:txBody>
      </p:sp>
      <p:pic>
        <p:nvPicPr>
          <p:cNvPr id="7" name="Content Placeholder 6">
            <a:extLst>
              <a:ext uri="{FF2B5EF4-FFF2-40B4-BE49-F238E27FC236}">
                <a16:creationId xmlns:a16="http://schemas.microsoft.com/office/drawing/2014/main" id="{F771EA2D-BF9D-1C56-A8D3-145E7AE07A58}"/>
              </a:ext>
            </a:extLst>
          </p:cNvPr>
          <p:cNvPicPr>
            <a:picLocks noGrp="1" noChangeAspect="1"/>
          </p:cNvPicPr>
          <p:nvPr>
            <p:ph idx="1"/>
          </p:nvPr>
        </p:nvPicPr>
        <p:blipFill>
          <a:blip r:embed="rId2"/>
          <a:stretch>
            <a:fillRect/>
          </a:stretch>
        </p:blipFill>
        <p:spPr>
          <a:xfrm>
            <a:off x="2438400" y="4076700"/>
            <a:ext cx="6553200" cy="2667000"/>
          </a:xfrm>
          <a:prstGeom prst="rect">
            <a:avLst/>
          </a:prstGeom>
        </p:spPr>
      </p:pic>
      <p:pic>
        <p:nvPicPr>
          <p:cNvPr id="9" name="Picture 8">
            <a:extLst>
              <a:ext uri="{FF2B5EF4-FFF2-40B4-BE49-F238E27FC236}">
                <a16:creationId xmlns:a16="http://schemas.microsoft.com/office/drawing/2014/main" id="{E76E8D1B-5377-7182-8D8B-8770AEAC1803}"/>
              </a:ext>
            </a:extLst>
          </p:cNvPr>
          <p:cNvPicPr>
            <a:picLocks noChangeAspect="1"/>
          </p:cNvPicPr>
          <p:nvPr/>
        </p:nvPicPr>
        <p:blipFill>
          <a:blip r:embed="rId3"/>
          <a:stretch>
            <a:fillRect/>
          </a:stretch>
        </p:blipFill>
        <p:spPr>
          <a:xfrm>
            <a:off x="10820400" y="5524500"/>
            <a:ext cx="5181600" cy="3289301"/>
          </a:xfrm>
          <a:prstGeom prst="rect">
            <a:avLst/>
          </a:prstGeom>
        </p:spPr>
      </p:pic>
      <p:pic>
        <p:nvPicPr>
          <p:cNvPr id="10" name="object 12">
            <a:extLst>
              <a:ext uri="{FF2B5EF4-FFF2-40B4-BE49-F238E27FC236}">
                <a16:creationId xmlns:a16="http://schemas.microsoft.com/office/drawing/2014/main" id="{253EFCD6-4059-89EC-EE93-A784CBCD5EF2}"/>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4210544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5748-E297-C9C4-EFF1-34935855B8F7}"/>
              </a:ext>
            </a:extLst>
          </p:cNvPr>
          <p:cNvSpPr>
            <a:spLocks noGrp="1"/>
          </p:cNvSpPr>
          <p:nvPr>
            <p:ph type="title"/>
          </p:nvPr>
        </p:nvSpPr>
        <p:spPr/>
        <p:txBody>
          <a:bodyPr>
            <a:normAutofit/>
          </a:bodyPr>
          <a:lstStyle/>
          <a:p>
            <a:r>
              <a:rPr lang="en-IN" sz="4400" dirty="0"/>
              <a:t>9. </a:t>
            </a:r>
            <a:r>
              <a:rPr lang="en-US" sz="4400" dirty="0"/>
              <a:t>Which departments have the highest total salary allocation?</a:t>
            </a:r>
            <a:endParaRPr lang="en-IN" sz="4400" dirty="0"/>
          </a:p>
        </p:txBody>
      </p:sp>
      <p:pic>
        <p:nvPicPr>
          <p:cNvPr id="5" name="Content Placeholder 4">
            <a:extLst>
              <a:ext uri="{FF2B5EF4-FFF2-40B4-BE49-F238E27FC236}">
                <a16:creationId xmlns:a16="http://schemas.microsoft.com/office/drawing/2014/main" id="{9051842A-5F55-26C7-189B-B226544CCC2F}"/>
              </a:ext>
            </a:extLst>
          </p:cNvPr>
          <p:cNvPicPr>
            <a:picLocks noGrp="1" noChangeAspect="1"/>
          </p:cNvPicPr>
          <p:nvPr>
            <p:ph idx="1"/>
          </p:nvPr>
        </p:nvPicPr>
        <p:blipFill>
          <a:blip r:embed="rId2"/>
          <a:stretch>
            <a:fillRect/>
          </a:stretch>
        </p:blipFill>
        <p:spPr>
          <a:xfrm>
            <a:off x="3048000" y="4076700"/>
            <a:ext cx="5410200" cy="2514600"/>
          </a:xfrm>
          <a:prstGeom prst="rect">
            <a:avLst/>
          </a:prstGeom>
        </p:spPr>
      </p:pic>
      <p:pic>
        <p:nvPicPr>
          <p:cNvPr id="7" name="Picture 6">
            <a:extLst>
              <a:ext uri="{FF2B5EF4-FFF2-40B4-BE49-F238E27FC236}">
                <a16:creationId xmlns:a16="http://schemas.microsoft.com/office/drawing/2014/main" id="{4B14D3EF-88EA-AB18-F6EC-4545BBB1194D}"/>
              </a:ext>
            </a:extLst>
          </p:cNvPr>
          <p:cNvPicPr>
            <a:picLocks noChangeAspect="1"/>
          </p:cNvPicPr>
          <p:nvPr/>
        </p:nvPicPr>
        <p:blipFill>
          <a:blip r:embed="rId3"/>
          <a:stretch>
            <a:fillRect/>
          </a:stretch>
        </p:blipFill>
        <p:spPr>
          <a:xfrm>
            <a:off x="10668000" y="5676900"/>
            <a:ext cx="3276600" cy="3106175"/>
          </a:xfrm>
          <a:prstGeom prst="rect">
            <a:avLst/>
          </a:prstGeom>
        </p:spPr>
      </p:pic>
      <p:pic>
        <p:nvPicPr>
          <p:cNvPr id="8" name="object 12">
            <a:extLst>
              <a:ext uri="{FF2B5EF4-FFF2-40B4-BE49-F238E27FC236}">
                <a16:creationId xmlns:a16="http://schemas.microsoft.com/office/drawing/2014/main" id="{87922965-015F-EB36-6D5D-02FD1457E59B}"/>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340352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551F4-8879-53FD-A4DD-AEB7F8CE816E}"/>
              </a:ext>
            </a:extLst>
          </p:cNvPr>
          <p:cNvSpPr>
            <a:spLocks noGrp="1"/>
          </p:cNvSpPr>
          <p:nvPr>
            <p:ph type="title"/>
          </p:nvPr>
        </p:nvSpPr>
        <p:spPr/>
        <p:txBody>
          <a:bodyPr>
            <a:normAutofit/>
          </a:bodyPr>
          <a:lstStyle/>
          <a:p>
            <a:r>
              <a:rPr lang="en-IN" sz="4400" dirty="0"/>
              <a:t>10. </a:t>
            </a:r>
            <a:r>
              <a:rPr lang="en-US" sz="4400" dirty="0"/>
              <a:t>How many employees have at least one qualification listed?</a:t>
            </a:r>
            <a:endParaRPr lang="en-IN" sz="4400" dirty="0"/>
          </a:p>
        </p:txBody>
      </p:sp>
      <p:pic>
        <p:nvPicPr>
          <p:cNvPr id="5" name="Content Placeholder 4">
            <a:extLst>
              <a:ext uri="{FF2B5EF4-FFF2-40B4-BE49-F238E27FC236}">
                <a16:creationId xmlns:a16="http://schemas.microsoft.com/office/drawing/2014/main" id="{5F35030C-F7BC-40B2-4BFC-AC37A135CCE7}"/>
              </a:ext>
            </a:extLst>
          </p:cNvPr>
          <p:cNvPicPr>
            <a:picLocks noGrp="1" noChangeAspect="1"/>
          </p:cNvPicPr>
          <p:nvPr>
            <p:ph idx="1"/>
          </p:nvPr>
        </p:nvPicPr>
        <p:blipFill>
          <a:blip r:embed="rId2"/>
          <a:stretch>
            <a:fillRect/>
          </a:stretch>
        </p:blipFill>
        <p:spPr>
          <a:xfrm>
            <a:off x="2286000" y="4165599"/>
            <a:ext cx="6629400" cy="1955801"/>
          </a:xfrm>
          <a:prstGeom prst="rect">
            <a:avLst/>
          </a:prstGeom>
        </p:spPr>
      </p:pic>
      <p:pic>
        <p:nvPicPr>
          <p:cNvPr id="7" name="Picture 6">
            <a:extLst>
              <a:ext uri="{FF2B5EF4-FFF2-40B4-BE49-F238E27FC236}">
                <a16:creationId xmlns:a16="http://schemas.microsoft.com/office/drawing/2014/main" id="{C6096679-5E0C-BC19-B2C5-03DB8E242680}"/>
              </a:ext>
            </a:extLst>
          </p:cNvPr>
          <p:cNvPicPr>
            <a:picLocks noChangeAspect="1"/>
          </p:cNvPicPr>
          <p:nvPr/>
        </p:nvPicPr>
        <p:blipFill>
          <a:blip r:embed="rId3"/>
          <a:stretch>
            <a:fillRect/>
          </a:stretch>
        </p:blipFill>
        <p:spPr>
          <a:xfrm>
            <a:off x="9153832" y="6378677"/>
            <a:ext cx="5715000" cy="2435124"/>
          </a:xfrm>
          <a:prstGeom prst="rect">
            <a:avLst/>
          </a:prstGeom>
        </p:spPr>
      </p:pic>
      <p:pic>
        <p:nvPicPr>
          <p:cNvPr id="8" name="object 12">
            <a:extLst>
              <a:ext uri="{FF2B5EF4-FFF2-40B4-BE49-F238E27FC236}">
                <a16:creationId xmlns:a16="http://schemas.microsoft.com/office/drawing/2014/main" id="{3FC5E11B-ADE6-6218-AD6F-D17734FC7FF5}"/>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503697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D79ED-2041-372B-B2D2-94DB41FEA4F7}"/>
              </a:ext>
            </a:extLst>
          </p:cNvPr>
          <p:cNvSpPr>
            <a:spLocks noGrp="1"/>
          </p:cNvSpPr>
          <p:nvPr>
            <p:ph type="title"/>
          </p:nvPr>
        </p:nvSpPr>
        <p:spPr/>
        <p:txBody>
          <a:bodyPr>
            <a:normAutofit/>
          </a:bodyPr>
          <a:lstStyle/>
          <a:p>
            <a:r>
              <a:rPr lang="en-IN" sz="4400" dirty="0"/>
              <a:t>11. </a:t>
            </a:r>
            <a:r>
              <a:rPr lang="en-US" sz="4400" dirty="0"/>
              <a:t>Which positions require the most qualifications?</a:t>
            </a:r>
            <a:endParaRPr lang="en-IN" sz="4400" dirty="0"/>
          </a:p>
        </p:txBody>
      </p:sp>
      <p:pic>
        <p:nvPicPr>
          <p:cNvPr id="5" name="Content Placeholder 4">
            <a:extLst>
              <a:ext uri="{FF2B5EF4-FFF2-40B4-BE49-F238E27FC236}">
                <a16:creationId xmlns:a16="http://schemas.microsoft.com/office/drawing/2014/main" id="{8982E064-BD6C-DE87-1FF5-EE10DBE95BFC}"/>
              </a:ext>
            </a:extLst>
          </p:cNvPr>
          <p:cNvPicPr>
            <a:picLocks noGrp="1" noChangeAspect="1"/>
          </p:cNvPicPr>
          <p:nvPr>
            <p:ph idx="1"/>
          </p:nvPr>
        </p:nvPicPr>
        <p:blipFill>
          <a:blip r:embed="rId2"/>
          <a:stretch>
            <a:fillRect/>
          </a:stretch>
        </p:blipFill>
        <p:spPr>
          <a:xfrm>
            <a:off x="2286000" y="3999743"/>
            <a:ext cx="5943600" cy="2287514"/>
          </a:xfrm>
          <a:prstGeom prst="rect">
            <a:avLst/>
          </a:prstGeom>
        </p:spPr>
      </p:pic>
      <p:pic>
        <p:nvPicPr>
          <p:cNvPr id="7" name="Picture 6">
            <a:extLst>
              <a:ext uri="{FF2B5EF4-FFF2-40B4-BE49-F238E27FC236}">
                <a16:creationId xmlns:a16="http://schemas.microsoft.com/office/drawing/2014/main" id="{2CDA914E-416E-4C99-06DF-7665679B5691}"/>
              </a:ext>
            </a:extLst>
          </p:cNvPr>
          <p:cNvPicPr>
            <a:picLocks noChangeAspect="1"/>
          </p:cNvPicPr>
          <p:nvPr/>
        </p:nvPicPr>
        <p:blipFill>
          <a:blip r:embed="rId3"/>
          <a:stretch>
            <a:fillRect/>
          </a:stretch>
        </p:blipFill>
        <p:spPr>
          <a:xfrm>
            <a:off x="9677400" y="5422902"/>
            <a:ext cx="5257800" cy="3352799"/>
          </a:xfrm>
          <a:prstGeom prst="rect">
            <a:avLst/>
          </a:prstGeom>
        </p:spPr>
      </p:pic>
      <p:pic>
        <p:nvPicPr>
          <p:cNvPr id="8" name="object 12">
            <a:extLst>
              <a:ext uri="{FF2B5EF4-FFF2-40B4-BE49-F238E27FC236}">
                <a16:creationId xmlns:a16="http://schemas.microsoft.com/office/drawing/2014/main" id="{20DEA222-6BA9-B140-7FD4-B5415EBEDFFE}"/>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022917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7317-D16D-70A6-9372-9B20AEDA0291}"/>
              </a:ext>
            </a:extLst>
          </p:cNvPr>
          <p:cNvSpPr>
            <a:spLocks noGrp="1"/>
          </p:cNvSpPr>
          <p:nvPr>
            <p:ph type="title"/>
          </p:nvPr>
        </p:nvSpPr>
        <p:spPr/>
        <p:txBody>
          <a:bodyPr>
            <a:normAutofit/>
          </a:bodyPr>
          <a:lstStyle/>
          <a:p>
            <a:r>
              <a:rPr lang="en-IN" sz="4400" dirty="0"/>
              <a:t>12. </a:t>
            </a:r>
            <a:r>
              <a:rPr lang="en-US" sz="4400" dirty="0"/>
              <a:t>Which employees have the highest number of qualifications?</a:t>
            </a:r>
            <a:endParaRPr lang="en-IN" sz="4400" dirty="0"/>
          </a:p>
        </p:txBody>
      </p:sp>
      <p:pic>
        <p:nvPicPr>
          <p:cNvPr id="5" name="Content Placeholder 4">
            <a:extLst>
              <a:ext uri="{FF2B5EF4-FFF2-40B4-BE49-F238E27FC236}">
                <a16:creationId xmlns:a16="http://schemas.microsoft.com/office/drawing/2014/main" id="{378E7B8A-E463-357B-EC35-656B8163A2E8}"/>
              </a:ext>
            </a:extLst>
          </p:cNvPr>
          <p:cNvPicPr>
            <a:picLocks noGrp="1" noChangeAspect="1"/>
          </p:cNvPicPr>
          <p:nvPr>
            <p:ph idx="1"/>
          </p:nvPr>
        </p:nvPicPr>
        <p:blipFill>
          <a:blip r:embed="rId2"/>
          <a:stretch>
            <a:fillRect/>
          </a:stretch>
        </p:blipFill>
        <p:spPr>
          <a:xfrm>
            <a:off x="2362200" y="4076700"/>
            <a:ext cx="6477000" cy="2971800"/>
          </a:xfrm>
          <a:prstGeom prst="rect">
            <a:avLst/>
          </a:prstGeom>
        </p:spPr>
      </p:pic>
      <p:pic>
        <p:nvPicPr>
          <p:cNvPr id="7" name="Picture 6">
            <a:extLst>
              <a:ext uri="{FF2B5EF4-FFF2-40B4-BE49-F238E27FC236}">
                <a16:creationId xmlns:a16="http://schemas.microsoft.com/office/drawing/2014/main" id="{8B27A8A7-2981-2BF9-93E4-4E1B401AC2C1}"/>
              </a:ext>
            </a:extLst>
          </p:cNvPr>
          <p:cNvPicPr>
            <a:picLocks noChangeAspect="1"/>
          </p:cNvPicPr>
          <p:nvPr/>
        </p:nvPicPr>
        <p:blipFill>
          <a:blip r:embed="rId3"/>
          <a:stretch>
            <a:fillRect/>
          </a:stretch>
        </p:blipFill>
        <p:spPr>
          <a:xfrm>
            <a:off x="11049000" y="5541706"/>
            <a:ext cx="4267200" cy="3429000"/>
          </a:xfrm>
          <a:prstGeom prst="rect">
            <a:avLst/>
          </a:prstGeom>
        </p:spPr>
      </p:pic>
      <p:pic>
        <p:nvPicPr>
          <p:cNvPr id="8" name="object 12">
            <a:extLst>
              <a:ext uri="{FF2B5EF4-FFF2-40B4-BE49-F238E27FC236}">
                <a16:creationId xmlns:a16="http://schemas.microsoft.com/office/drawing/2014/main" id="{BDBA5FA2-8E0B-437B-0EE3-73E7E2643E9D}"/>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394859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75DB4-D350-033D-C3C0-2207D599CEE5}"/>
              </a:ext>
            </a:extLst>
          </p:cNvPr>
          <p:cNvSpPr>
            <a:spLocks noGrp="1"/>
          </p:cNvSpPr>
          <p:nvPr>
            <p:ph type="title"/>
          </p:nvPr>
        </p:nvSpPr>
        <p:spPr/>
        <p:txBody>
          <a:bodyPr>
            <a:normAutofit/>
          </a:bodyPr>
          <a:lstStyle/>
          <a:p>
            <a:r>
              <a:rPr lang="en-IN" sz="4900" dirty="0"/>
              <a:t>13. </a:t>
            </a:r>
            <a:r>
              <a:rPr lang="en-US" sz="4900" dirty="0"/>
              <a:t>Which year had the most employees taking leaves?</a:t>
            </a:r>
            <a:br>
              <a:rPr lang="en-US" dirty="0"/>
            </a:br>
            <a:endParaRPr lang="en-IN" dirty="0"/>
          </a:p>
        </p:txBody>
      </p:sp>
      <p:pic>
        <p:nvPicPr>
          <p:cNvPr id="5" name="Content Placeholder 4">
            <a:extLst>
              <a:ext uri="{FF2B5EF4-FFF2-40B4-BE49-F238E27FC236}">
                <a16:creationId xmlns:a16="http://schemas.microsoft.com/office/drawing/2014/main" id="{871A40A1-61B0-359E-634D-3DF5C7D5CB18}"/>
              </a:ext>
            </a:extLst>
          </p:cNvPr>
          <p:cNvPicPr>
            <a:picLocks noGrp="1" noChangeAspect="1"/>
          </p:cNvPicPr>
          <p:nvPr>
            <p:ph idx="1"/>
          </p:nvPr>
        </p:nvPicPr>
        <p:blipFill>
          <a:blip r:embed="rId2"/>
          <a:stretch>
            <a:fillRect/>
          </a:stretch>
        </p:blipFill>
        <p:spPr>
          <a:xfrm>
            <a:off x="2819400" y="3991691"/>
            <a:ext cx="5257800" cy="2303617"/>
          </a:xfrm>
          <a:prstGeom prst="rect">
            <a:avLst/>
          </a:prstGeom>
        </p:spPr>
      </p:pic>
      <p:pic>
        <p:nvPicPr>
          <p:cNvPr id="7" name="Picture 6">
            <a:extLst>
              <a:ext uri="{FF2B5EF4-FFF2-40B4-BE49-F238E27FC236}">
                <a16:creationId xmlns:a16="http://schemas.microsoft.com/office/drawing/2014/main" id="{686B3A5C-B7CD-7FAE-8FC9-C071A36E5B27}"/>
              </a:ext>
            </a:extLst>
          </p:cNvPr>
          <p:cNvPicPr>
            <a:picLocks noChangeAspect="1"/>
          </p:cNvPicPr>
          <p:nvPr/>
        </p:nvPicPr>
        <p:blipFill>
          <a:blip r:embed="rId3"/>
          <a:stretch>
            <a:fillRect/>
          </a:stretch>
        </p:blipFill>
        <p:spPr>
          <a:xfrm>
            <a:off x="9906000" y="6134100"/>
            <a:ext cx="3276600" cy="2303618"/>
          </a:xfrm>
          <a:prstGeom prst="rect">
            <a:avLst/>
          </a:prstGeom>
        </p:spPr>
      </p:pic>
      <p:pic>
        <p:nvPicPr>
          <p:cNvPr id="8" name="object 12">
            <a:extLst>
              <a:ext uri="{FF2B5EF4-FFF2-40B4-BE49-F238E27FC236}">
                <a16:creationId xmlns:a16="http://schemas.microsoft.com/office/drawing/2014/main" id="{95EE0E9C-A53D-A037-3790-AC17906EFDEF}"/>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985628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D849D-8A2B-BA07-3D60-16B4D8E802FB}"/>
              </a:ext>
            </a:extLst>
          </p:cNvPr>
          <p:cNvSpPr>
            <a:spLocks noGrp="1"/>
          </p:cNvSpPr>
          <p:nvPr>
            <p:ph type="title"/>
          </p:nvPr>
        </p:nvSpPr>
        <p:spPr/>
        <p:txBody>
          <a:bodyPr>
            <a:normAutofit/>
          </a:bodyPr>
          <a:lstStyle/>
          <a:p>
            <a:r>
              <a:rPr lang="en-IN" sz="4400" dirty="0"/>
              <a:t>14. </a:t>
            </a:r>
            <a:r>
              <a:rPr lang="en-US" sz="4400" dirty="0">
                <a:latin typeface="Times New Roman" panose="02020603050405020304" pitchFamily="18" charset="0"/>
                <a:cs typeface="Times New Roman" panose="02020603050405020304" pitchFamily="18" charset="0"/>
              </a:rPr>
              <a:t>What is the average number of leave days taken by its employees per department?</a:t>
            </a:r>
            <a:endParaRPr lang="en-IN" sz="4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F085CF3-B2E9-16A8-90F1-1BD6C3ADA99F}"/>
              </a:ext>
            </a:extLst>
          </p:cNvPr>
          <p:cNvPicPr>
            <a:picLocks noGrp="1" noChangeAspect="1"/>
          </p:cNvPicPr>
          <p:nvPr>
            <p:ph idx="1"/>
          </p:nvPr>
        </p:nvPicPr>
        <p:blipFill>
          <a:blip r:embed="rId2"/>
          <a:stretch>
            <a:fillRect/>
          </a:stretch>
        </p:blipFill>
        <p:spPr>
          <a:xfrm>
            <a:off x="2362200" y="4000500"/>
            <a:ext cx="7620000" cy="3276600"/>
          </a:xfrm>
          <a:prstGeom prst="rect">
            <a:avLst/>
          </a:prstGeom>
        </p:spPr>
      </p:pic>
      <p:pic>
        <p:nvPicPr>
          <p:cNvPr id="8" name="object 12">
            <a:extLst>
              <a:ext uri="{FF2B5EF4-FFF2-40B4-BE49-F238E27FC236}">
                <a16:creationId xmlns:a16="http://schemas.microsoft.com/office/drawing/2014/main" id="{22808F8C-8CD4-93D3-CF6B-99C218304BD7}"/>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AC74FEF2-83C5-1CF1-D9BE-1B13BA324824}"/>
              </a:ext>
            </a:extLst>
          </p:cNvPr>
          <p:cNvPicPr>
            <a:picLocks noChangeAspect="1"/>
          </p:cNvPicPr>
          <p:nvPr/>
        </p:nvPicPr>
        <p:blipFill>
          <a:blip r:embed="rId4"/>
          <a:stretch>
            <a:fillRect/>
          </a:stretch>
        </p:blipFill>
        <p:spPr>
          <a:xfrm>
            <a:off x="12344400" y="5129981"/>
            <a:ext cx="3391088" cy="3836738"/>
          </a:xfrm>
          <a:prstGeom prst="rect">
            <a:avLst/>
          </a:prstGeom>
        </p:spPr>
      </p:pic>
    </p:spTree>
    <p:extLst>
      <p:ext uri="{BB962C8B-B14F-4D97-AF65-F5344CB8AC3E}">
        <p14:creationId xmlns:p14="http://schemas.microsoft.com/office/powerpoint/2010/main" val="1084437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384CD-5AFA-F5C0-8EF6-6A0F32FE83E2}"/>
              </a:ext>
            </a:extLst>
          </p:cNvPr>
          <p:cNvSpPr>
            <a:spLocks noGrp="1"/>
          </p:cNvSpPr>
          <p:nvPr>
            <p:ph type="title"/>
          </p:nvPr>
        </p:nvSpPr>
        <p:spPr/>
        <p:txBody>
          <a:bodyPr>
            <a:normAutofit/>
          </a:bodyPr>
          <a:lstStyle/>
          <a:p>
            <a:r>
              <a:rPr lang="en-IN" sz="4400" dirty="0"/>
              <a:t>15. </a:t>
            </a:r>
            <a:r>
              <a:rPr lang="en-US" sz="4400" dirty="0"/>
              <a:t>Which employees have taken the most leaves?</a:t>
            </a:r>
            <a:endParaRPr lang="en-IN" sz="4400" dirty="0"/>
          </a:p>
        </p:txBody>
      </p:sp>
      <p:pic>
        <p:nvPicPr>
          <p:cNvPr id="5" name="Content Placeholder 4">
            <a:extLst>
              <a:ext uri="{FF2B5EF4-FFF2-40B4-BE49-F238E27FC236}">
                <a16:creationId xmlns:a16="http://schemas.microsoft.com/office/drawing/2014/main" id="{14E84DDB-230D-C5B0-6C5C-4A01C07A8242}"/>
              </a:ext>
            </a:extLst>
          </p:cNvPr>
          <p:cNvPicPr>
            <a:picLocks noGrp="1" noChangeAspect="1"/>
          </p:cNvPicPr>
          <p:nvPr>
            <p:ph idx="1"/>
          </p:nvPr>
        </p:nvPicPr>
        <p:blipFill>
          <a:blip r:embed="rId2"/>
          <a:stretch>
            <a:fillRect/>
          </a:stretch>
        </p:blipFill>
        <p:spPr>
          <a:xfrm>
            <a:off x="3048000" y="4152900"/>
            <a:ext cx="5410200" cy="2400301"/>
          </a:xfrm>
          <a:prstGeom prst="rect">
            <a:avLst/>
          </a:prstGeom>
        </p:spPr>
      </p:pic>
      <p:pic>
        <p:nvPicPr>
          <p:cNvPr id="7" name="Picture 6">
            <a:extLst>
              <a:ext uri="{FF2B5EF4-FFF2-40B4-BE49-F238E27FC236}">
                <a16:creationId xmlns:a16="http://schemas.microsoft.com/office/drawing/2014/main" id="{4DD843D2-BFC4-579C-DFFF-91B8EDD78453}"/>
              </a:ext>
            </a:extLst>
          </p:cNvPr>
          <p:cNvPicPr>
            <a:picLocks noChangeAspect="1"/>
          </p:cNvPicPr>
          <p:nvPr/>
        </p:nvPicPr>
        <p:blipFill>
          <a:blip r:embed="rId3"/>
          <a:stretch>
            <a:fillRect/>
          </a:stretch>
        </p:blipFill>
        <p:spPr>
          <a:xfrm>
            <a:off x="10397615" y="5973507"/>
            <a:ext cx="4191000" cy="2819400"/>
          </a:xfrm>
          <a:prstGeom prst="rect">
            <a:avLst/>
          </a:prstGeom>
        </p:spPr>
      </p:pic>
      <p:pic>
        <p:nvPicPr>
          <p:cNvPr id="8" name="object 12">
            <a:extLst>
              <a:ext uri="{FF2B5EF4-FFF2-40B4-BE49-F238E27FC236}">
                <a16:creationId xmlns:a16="http://schemas.microsoft.com/office/drawing/2014/main" id="{F287DAD9-F4C6-258C-9740-6B22D07C1D5D}"/>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34555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50AD9-5894-1F4E-6288-44DE2B476F8B}"/>
              </a:ext>
            </a:extLst>
          </p:cNvPr>
          <p:cNvSpPr>
            <a:spLocks noGrp="1"/>
          </p:cNvSpPr>
          <p:nvPr>
            <p:ph type="title"/>
          </p:nvPr>
        </p:nvSpPr>
        <p:spPr/>
        <p:txBody>
          <a:bodyPr>
            <a:normAutofit/>
          </a:bodyPr>
          <a:lstStyle/>
          <a:p>
            <a:r>
              <a:rPr lang="en-IN" sz="4400" dirty="0"/>
              <a:t>16. </a:t>
            </a:r>
            <a:r>
              <a:rPr lang="en-US" sz="4400" dirty="0"/>
              <a:t>What is the total number of leave days taken company-wide?</a:t>
            </a:r>
            <a:endParaRPr lang="en-IN" sz="4400" dirty="0"/>
          </a:p>
        </p:txBody>
      </p:sp>
      <p:pic>
        <p:nvPicPr>
          <p:cNvPr id="5" name="Content Placeholder 4">
            <a:extLst>
              <a:ext uri="{FF2B5EF4-FFF2-40B4-BE49-F238E27FC236}">
                <a16:creationId xmlns:a16="http://schemas.microsoft.com/office/drawing/2014/main" id="{907ADCF3-CA3A-9622-DF71-752C9F572CC9}"/>
              </a:ext>
            </a:extLst>
          </p:cNvPr>
          <p:cNvPicPr>
            <a:picLocks noGrp="1" noChangeAspect="1"/>
          </p:cNvPicPr>
          <p:nvPr>
            <p:ph idx="1"/>
          </p:nvPr>
        </p:nvPicPr>
        <p:blipFill>
          <a:blip r:embed="rId2"/>
          <a:stretch>
            <a:fillRect/>
          </a:stretch>
        </p:blipFill>
        <p:spPr>
          <a:xfrm>
            <a:off x="3276600" y="4267200"/>
            <a:ext cx="4114800" cy="1752600"/>
          </a:xfrm>
          <a:prstGeom prst="rect">
            <a:avLst/>
          </a:prstGeom>
        </p:spPr>
      </p:pic>
      <p:pic>
        <p:nvPicPr>
          <p:cNvPr id="7" name="Picture 6">
            <a:extLst>
              <a:ext uri="{FF2B5EF4-FFF2-40B4-BE49-F238E27FC236}">
                <a16:creationId xmlns:a16="http://schemas.microsoft.com/office/drawing/2014/main" id="{E1F7567C-2C27-3849-4AB1-DF868E6A90E5}"/>
              </a:ext>
            </a:extLst>
          </p:cNvPr>
          <p:cNvPicPr>
            <a:picLocks noChangeAspect="1"/>
          </p:cNvPicPr>
          <p:nvPr/>
        </p:nvPicPr>
        <p:blipFill>
          <a:blip r:embed="rId3"/>
          <a:stretch>
            <a:fillRect/>
          </a:stretch>
        </p:blipFill>
        <p:spPr>
          <a:xfrm>
            <a:off x="8915400" y="6571657"/>
            <a:ext cx="4114800" cy="2156499"/>
          </a:xfrm>
          <a:prstGeom prst="rect">
            <a:avLst/>
          </a:prstGeom>
        </p:spPr>
      </p:pic>
      <p:pic>
        <p:nvPicPr>
          <p:cNvPr id="8" name="object 12">
            <a:extLst>
              <a:ext uri="{FF2B5EF4-FFF2-40B4-BE49-F238E27FC236}">
                <a16:creationId xmlns:a16="http://schemas.microsoft.com/office/drawing/2014/main" id="{FB71371B-B092-F658-3D87-C918CE40A654}"/>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2672374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940F4-9C5D-0068-8805-8ED987D66989}"/>
              </a:ext>
            </a:extLst>
          </p:cNvPr>
          <p:cNvSpPr>
            <a:spLocks noGrp="1"/>
          </p:cNvSpPr>
          <p:nvPr>
            <p:ph type="title"/>
          </p:nvPr>
        </p:nvSpPr>
        <p:spPr/>
        <p:txBody>
          <a:bodyPr>
            <a:normAutofit/>
          </a:bodyPr>
          <a:lstStyle/>
          <a:p>
            <a:r>
              <a:rPr lang="en-IN" sz="4400" dirty="0"/>
              <a:t>17. </a:t>
            </a:r>
            <a:r>
              <a:rPr lang="en-US" sz="4400" dirty="0"/>
              <a:t>How do leave days correlate with payroll amounts?</a:t>
            </a:r>
            <a:endParaRPr lang="en-IN" sz="4400" dirty="0"/>
          </a:p>
        </p:txBody>
      </p:sp>
      <p:pic>
        <p:nvPicPr>
          <p:cNvPr id="18" name="Content Placeholder 17">
            <a:extLst>
              <a:ext uri="{FF2B5EF4-FFF2-40B4-BE49-F238E27FC236}">
                <a16:creationId xmlns:a16="http://schemas.microsoft.com/office/drawing/2014/main" id="{5A9508E6-067C-5307-E937-23E70377811C}"/>
              </a:ext>
            </a:extLst>
          </p:cNvPr>
          <p:cNvPicPr>
            <a:picLocks noGrp="1" noChangeAspect="1"/>
          </p:cNvPicPr>
          <p:nvPr>
            <p:ph idx="1"/>
          </p:nvPr>
        </p:nvPicPr>
        <p:blipFill>
          <a:blip r:embed="rId2"/>
          <a:stretch>
            <a:fillRect/>
          </a:stretch>
        </p:blipFill>
        <p:spPr>
          <a:xfrm>
            <a:off x="2362200" y="4000500"/>
            <a:ext cx="7010400" cy="3124200"/>
          </a:xfrm>
          <a:prstGeom prst="rect">
            <a:avLst/>
          </a:prstGeom>
        </p:spPr>
      </p:pic>
      <p:pic>
        <p:nvPicPr>
          <p:cNvPr id="20" name="Picture 19">
            <a:extLst>
              <a:ext uri="{FF2B5EF4-FFF2-40B4-BE49-F238E27FC236}">
                <a16:creationId xmlns:a16="http://schemas.microsoft.com/office/drawing/2014/main" id="{2AE861BA-EC4C-9018-60E3-12048253C27F}"/>
              </a:ext>
            </a:extLst>
          </p:cNvPr>
          <p:cNvPicPr>
            <a:picLocks noChangeAspect="1"/>
          </p:cNvPicPr>
          <p:nvPr/>
        </p:nvPicPr>
        <p:blipFill>
          <a:blip r:embed="rId3"/>
          <a:stretch>
            <a:fillRect/>
          </a:stretch>
        </p:blipFill>
        <p:spPr>
          <a:xfrm>
            <a:off x="10170239" y="5749824"/>
            <a:ext cx="6159910" cy="3124200"/>
          </a:xfrm>
          <a:prstGeom prst="rect">
            <a:avLst/>
          </a:prstGeom>
        </p:spPr>
      </p:pic>
      <p:pic>
        <p:nvPicPr>
          <p:cNvPr id="21" name="object 12">
            <a:extLst>
              <a:ext uri="{FF2B5EF4-FFF2-40B4-BE49-F238E27FC236}">
                <a16:creationId xmlns:a16="http://schemas.microsoft.com/office/drawing/2014/main" id="{763E01FB-6069-1892-0365-F2AE58AB8CCD}"/>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4209565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AE26-9AD6-A897-EB5C-223D553EA705}"/>
              </a:ext>
            </a:extLst>
          </p:cNvPr>
          <p:cNvSpPr>
            <a:spLocks noGrp="1"/>
          </p:cNvSpPr>
          <p:nvPr>
            <p:ph type="title"/>
          </p:nvPr>
        </p:nvSpPr>
        <p:spPr/>
        <p:txBody>
          <a:bodyPr>
            <a:normAutofit/>
          </a:bodyPr>
          <a:lstStyle/>
          <a:p>
            <a:r>
              <a:rPr lang="en-IN" sz="4400" dirty="0"/>
              <a:t>18. </a:t>
            </a:r>
            <a:r>
              <a:rPr lang="en-US" sz="4400" dirty="0"/>
              <a:t>What is the total monthly payroll processed?</a:t>
            </a:r>
            <a:endParaRPr lang="en-IN" sz="4400" dirty="0"/>
          </a:p>
        </p:txBody>
      </p:sp>
      <p:pic>
        <p:nvPicPr>
          <p:cNvPr id="5" name="Content Placeholder 4">
            <a:extLst>
              <a:ext uri="{FF2B5EF4-FFF2-40B4-BE49-F238E27FC236}">
                <a16:creationId xmlns:a16="http://schemas.microsoft.com/office/drawing/2014/main" id="{E5AE5DFE-71D0-A20C-933E-B61068C7B23D}"/>
              </a:ext>
            </a:extLst>
          </p:cNvPr>
          <p:cNvPicPr>
            <a:picLocks noGrp="1" noChangeAspect="1"/>
          </p:cNvPicPr>
          <p:nvPr>
            <p:ph idx="1"/>
          </p:nvPr>
        </p:nvPicPr>
        <p:blipFill>
          <a:blip r:embed="rId2"/>
          <a:stretch>
            <a:fillRect/>
          </a:stretch>
        </p:blipFill>
        <p:spPr>
          <a:xfrm>
            <a:off x="2667000" y="3873584"/>
            <a:ext cx="5029200" cy="2539832"/>
          </a:xfrm>
          <a:prstGeom prst="rect">
            <a:avLst/>
          </a:prstGeom>
        </p:spPr>
      </p:pic>
      <p:pic>
        <p:nvPicPr>
          <p:cNvPr id="7" name="Picture 6">
            <a:extLst>
              <a:ext uri="{FF2B5EF4-FFF2-40B4-BE49-F238E27FC236}">
                <a16:creationId xmlns:a16="http://schemas.microsoft.com/office/drawing/2014/main" id="{A57F9581-1D1E-EC4D-BD62-FEB8891545CE}"/>
              </a:ext>
            </a:extLst>
          </p:cNvPr>
          <p:cNvPicPr>
            <a:picLocks noChangeAspect="1"/>
          </p:cNvPicPr>
          <p:nvPr/>
        </p:nvPicPr>
        <p:blipFill>
          <a:blip r:embed="rId3"/>
          <a:stretch>
            <a:fillRect/>
          </a:stretch>
        </p:blipFill>
        <p:spPr>
          <a:xfrm>
            <a:off x="8915400" y="6743700"/>
            <a:ext cx="4648200" cy="1828800"/>
          </a:xfrm>
          <a:prstGeom prst="rect">
            <a:avLst/>
          </a:prstGeom>
        </p:spPr>
      </p:pic>
      <p:pic>
        <p:nvPicPr>
          <p:cNvPr id="8" name="object 12">
            <a:extLst>
              <a:ext uri="{FF2B5EF4-FFF2-40B4-BE49-F238E27FC236}">
                <a16:creationId xmlns:a16="http://schemas.microsoft.com/office/drawing/2014/main" id="{69E21909-D0A4-4DA8-39D2-5C951BE8DC9E}"/>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150792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68B1-C365-CAA9-36F5-67670144D878}"/>
              </a:ext>
            </a:extLst>
          </p:cNvPr>
          <p:cNvSpPr>
            <a:spLocks noGrp="1"/>
          </p:cNvSpPr>
          <p:nvPr>
            <p:ph type="title"/>
          </p:nvPr>
        </p:nvSpPr>
        <p:spPr/>
        <p:txBody>
          <a:bodyPr>
            <a:normAutofit/>
          </a:bodyPr>
          <a:lstStyle/>
          <a:p>
            <a:r>
              <a:rPr lang="en-IN" sz="4400" dirty="0"/>
              <a:t>19. </a:t>
            </a:r>
            <a:r>
              <a:rPr lang="en-US" sz="4400" dirty="0"/>
              <a:t>What is the average bonus given per department?</a:t>
            </a:r>
            <a:endParaRPr lang="en-IN" sz="4400" dirty="0"/>
          </a:p>
        </p:txBody>
      </p:sp>
      <p:pic>
        <p:nvPicPr>
          <p:cNvPr id="5" name="Content Placeholder 4">
            <a:extLst>
              <a:ext uri="{FF2B5EF4-FFF2-40B4-BE49-F238E27FC236}">
                <a16:creationId xmlns:a16="http://schemas.microsoft.com/office/drawing/2014/main" id="{CED7521E-F062-5FCD-F5E9-9C3C848698DF}"/>
              </a:ext>
            </a:extLst>
          </p:cNvPr>
          <p:cNvPicPr>
            <a:picLocks noGrp="1" noChangeAspect="1"/>
          </p:cNvPicPr>
          <p:nvPr>
            <p:ph idx="1"/>
          </p:nvPr>
        </p:nvPicPr>
        <p:blipFill>
          <a:blip r:embed="rId2"/>
          <a:stretch>
            <a:fillRect/>
          </a:stretch>
        </p:blipFill>
        <p:spPr>
          <a:xfrm>
            <a:off x="2971800" y="4083050"/>
            <a:ext cx="5029200" cy="3200400"/>
          </a:xfrm>
          <a:prstGeom prst="rect">
            <a:avLst/>
          </a:prstGeom>
        </p:spPr>
      </p:pic>
      <p:pic>
        <p:nvPicPr>
          <p:cNvPr id="8" name="object 12">
            <a:extLst>
              <a:ext uri="{FF2B5EF4-FFF2-40B4-BE49-F238E27FC236}">
                <a16:creationId xmlns:a16="http://schemas.microsoft.com/office/drawing/2014/main" id="{C77C7064-D071-7F5C-B2A2-10C759538356}"/>
              </a:ext>
            </a:extLst>
          </p:cNvPr>
          <p:cNvPicPr/>
          <p:nvPr/>
        </p:nvPicPr>
        <p:blipFill>
          <a:blip r:embed="rId3" cstate="print"/>
          <a:stretch>
            <a:fillRect/>
          </a:stretch>
        </p:blipFill>
        <p:spPr>
          <a:xfrm>
            <a:off x="0" y="9524"/>
            <a:ext cx="4514849" cy="809625"/>
          </a:xfrm>
          <a:prstGeom prst="rect">
            <a:avLst/>
          </a:prstGeom>
        </p:spPr>
      </p:pic>
      <p:pic>
        <p:nvPicPr>
          <p:cNvPr id="4" name="Picture 3">
            <a:extLst>
              <a:ext uri="{FF2B5EF4-FFF2-40B4-BE49-F238E27FC236}">
                <a16:creationId xmlns:a16="http://schemas.microsoft.com/office/drawing/2014/main" id="{832B6D42-73D4-B79D-22FA-B5272DD838BB}"/>
              </a:ext>
            </a:extLst>
          </p:cNvPr>
          <p:cNvPicPr>
            <a:picLocks noChangeAspect="1"/>
          </p:cNvPicPr>
          <p:nvPr/>
        </p:nvPicPr>
        <p:blipFill>
          <a:blip r:embed="rId4"/>
          <a:stretch>
            <a:fillRect/>
          </a:stretch>
        </p:blipFill>
        <p:spPr>
          <a:xfrm>
            <a:off x="10515600" y="6057900"/>
            <a:ext cx="4392561" cy="3048000"/>
          </a:xfrm>
          <a:prstGeom prst="rect">
            <a:avLst/>
          </a:prstGeom>
        </p:spPr>
      </p:pic>
    </p:spTree>
    <p:extLst>
      <p:ext uri="{BB962C8B-B14F-4D97-AF65-F5344CB8AC3E}">
        <p14:creationId xmlns:p14="http://schemas.microsoft.com/office/powerpoint/2010/main" val="2998565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54FD8-3F85-D1D7-45D9-E41AF6FCA81C}"/>
              </a:ext>
            </a:extLst>
          </p:cNvPr>
          <p:cNvSpPr>
            <a:spLocks noGrp="1"/>
          </p:cNvSpPr>
          <p:nvPr>
            <p:ph type="title"/>
          </p:nvPr>
        </p:nvSpPr>
        <p:spPr/>
        <p:txBody>
          <a:bodyPr>
            <a:normAutofit/>
          </a:bodyPr>
          <a:lstStyle/>
          <a:p>
            <a:r>
              <a:rPr lang="en-IN" sz="4400" dirty="0"/>
              <a:t>20. </a:t>
            </a:r>
            <a:r>
              <a:rPr lang="en-US" sz="4400" dirty="0"/>
              <a:t>Which department receives the highest total bonuses?</a:t>
            </a:r>
            <a:endParaRPr lang="en-IN" sz="4400" dirty="0"/>
          </a:p>
        </p:txBody>
      </p:sp>
      <p:pic>
        <p:nvPicPr>
          <p:cNvPr id="8" name="object 12">
            <a:extLst>
              <a:ext uri="{FF2B5EF4-FFF2-40B4-BE49-F238E27FC236}">
                <a16:creationId xmlns:a16="http://schemas.microsoft.com/office/drawing/2014/main" id="{07E4718E-3CDF-AA91-BF4F-86D32F0A15BF}"/>
              </a:ext>
            </a:extLst>
          </p:cNvPr>
          <p:cNvPicPr/>
          <p:nvPr/>
        </p:nvPicPr>
        <p:blipFill>
          <a:blip r:embed="rId2" cstate="print"/>
          <a:stretch>
            <a:fillRect/>
          </a:stretch>
        </p:blipFill>
        <p:spPr>
          <a:xfrm>
            <a:off x="0" y="9524"/>
            <a:ext cx="4514849" cy="809625"/>
          </a:xfrm>
          <a:prstGeom prst="rect">
            <a:avLst/>
          </a:prstGeom>
        </p:spPr>
      </p:pic>
      <p:pic>
        <p:nvPicPr>
          <p:cNvPr id="6" name="Picture 5">
            <a:extLst>
              <a:ext uri="{FF2B5EF4-FFF2-40B4-BE49-F238E27FC236}">
                <a16:creationId xmlns:a16="http://schemas.microsoft.com/office/drawing/2014/main" id="{4D7F7769-D0DF-19CA-CCE9-CE9BE37A743E}"/>
              </a:ext>
            </a:extLst>
          </p:cNvPr>
          <p:cNvPicPr>
            <a:picLocks noChangeAspect="1"/>
          </p:cNvPicPr>
          <p:nvPr/>
        </p:nvPicPr>
        <p:blipFill>
          <a:blip r:embed="rId3"/>
          <a:stretch>
            <a:fillRect/>
          </a:stretch>
        </p:blipFill>
        <p:spPr>
          <a:xfrm>
            <a:off x="11049000" y="6134100"/>
            <a:ext cx="4084449" cy="2438400"/>
          </a:xfrm>
          <a:prstGeom prst="rect">
            <a:avLst/>
          </a:prstGeom>
        </p:spPr>
      </p:pic>
      <p:pic>
        <p:nvPicPr>
          <p:cNvPr id="27" name="Content Placeholder 26">
            <a:extLst>
              <a:ext uri="{FF2B5EF4-FFF2-40B4-BE49-F238E27FC236}">
                <a16:creationId xmlns:a16="http://schemas.microsoft.com/office/drawing/2014/main" id="{90F0884C-0F32-E48B-1883-6A9792564A4B}"/>
              </a:ext>
            </a:extLst>
          </p:cNvPr>
          <p:cNvPicPr>
            <a:picLocks noGrp="1" noChangeAspect="1"/>
          </p:cNvPicPr>
          <p:nvPr>
            <p:ph idx="1"/>
          </p:nvPr>
        </p:nvPicPr>
        <p:blipFill>
          <a:blip r:embed="rId4"/>
          <a:stretch>
            <a:fillRect/>
          </a:stretch>
        </p:blipFill>
        <p:spPr>
          <a:xfrm>
            <a:off x="2438400" y="4047408"/>
            <a:ext cx="4953000" cy="2732531"/>
          </a:xfrm>
          <a:prstGeom prst="rect">
            <a:avLst/>
          </a:prstGeom>
        </p:spPr>
      </p:pic>
    </p:spTree>
    <p:extLst>
      <p:ext uri="{BB962C8B-B14F-4D97-AF65-F5344CB8AC3E}">
        <p14:creationId xmlns:p14="http://schemas.microsoft.com/office/powerpoint/2010/main" val="1838994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7861E-85BD-3686-4B0B-AB87EFBCE9C4}"/>
              </a:ext>
            </a:extLst>
          </p:cNvPr>
          <p:cNvSpPr>
            <a:spLocks noGrp="1"/>
          </p:cNvSpPr>
          <p:nvPr>
            <p:ph type="title"/>
          </p:nvPr>
        </p:nvSpPr>
        <p:spPr/>
        <p:txBody>
          <a:bodyPr>
            <a:normAutofit/>
          </a:bodyPr>
          <a:lstStyle/>
          <a:p>
            <a:r>
              <a:rPr lang="en-IN" sz="4400" dirty="0"/>
              <a:t>21. </a:t>
            </a:r>
            <a:r>
              <a:rPr lang="en-US" sz="4400" dirty="0"/>
              <a:t>What is the average value of total amount after considering leave deductions?</a:t>
            </a:r>
            <a:endParaRPr lang="en-IN" sz="4400" dirty="0"/>
          </a:p>
        </p:txBody>
      </p:sp>
      <p:pic>
        <p:nvPicPr>
          <p:cNvPr id="5" name="Content Placeholder 4">
            <a:extLst>
              <a:ext uri="{FF2B5EF4-FFF2-40B4-BE49-F238E27FC236}">
                <a16:creationId xmlns:a16="http://schemas.microsoft.com/office/drawing/2014/main" id="{EEABB01A-642F-3551-508E-6D9A87C3A3C5}"/>
              </a:ext>
            </a:extLst>
          </p:cNvPr>
          <p:cNvPicPr>
            <a:picLocks noGrp="1" noChangeAspect="1"/>
          </p:cNvPicPr>
          <p:nvPr>
            <p:ph idx="1"/>
          </p:nvPr>
        </p:nvPicPr>
        <p:blipFill>
          <a:blip r:embed="rId2"/>
          <a:stretch>
            <a:fillRect/>
          </a:stretch>
        </p:blipFill>
        <p:spPr>
          <a:xfrm>
            <a:off x="2286000" y="4076700"/>
            <a:ext cx="6553200" cy="2507006"/>
          </a:xfrm>
          <a:prstGeom prst="rect">
            <a:avLst/>
          </a:prstGeom>
        </p:spPr>
      </p:pic>
      <p:pic>
        <p:nvPicPr>
          <p:cNvPr id="7" name="Picture 6">
            <a:extLst>
              <a:ext uri="{FF2B5EF4-FFF2-40B4-BE49-F238E27FC236}">
                <a16:creationId xmlns:a16="http://schemas.microsoft.com/office/drawing/2014/main" id="{C5960536-C8CD-0E94-D6C1-BDB47D49F054}"/>
              </a:ext>
            </a:extLst>
          </p:cNvPr>
          <p:cNvPicPr>
            <a:picLocks noChangeAspect="1"/>
          </p:cNvPicPr>
          <p:nvPr/>
        </p:nvPicPr>
        <p:blipFill>
          <a:blip r:embed="rId3"/>
          <a:stretch>
            <a:fillRect/>
          </a:stretch>
        </p:blipFill>
        <p:spPr>
          <a:xfrm>
            <a:off x="9802761" y="6306795"/>
            <a:ext cx="6172200" cy="2507006"/>
          </a:xfrm>
          <a:prstGeom prst="rect">
            <a:avLst/>
          </a:prstGeom>
        </p:spPr>
      </p:pic>
      <p:pic>
        <p:nvPicPr>
          <p:cNvPr id="8" name="object 12">
            <a:extLst>
              <a:ext uri="{FF2B5EF4-FFF2-40B4-BE49-F238E27FC236}">
                <a16:creationId xmlns:a16="http://schemas.microsoft.com/office/drawing/2014/main" id="{29FEFCB5-1DB8-4C53-591A-38D2BE1F190C}"/>
              </a:ext>
            </a:extLst>
          </p:cNvPr>
          <p:cNvPicPr/>
          <p:nvPr/>
        </p:nvPicPr>
        <p:blipFill>
          <a:blip r:embed="rId4"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38028189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0B96E-AEFD-9D4A-C6D1-168F5F693796}"/>
              </a:ext>
            </a:extLst>
          </p:cNvPr>
          <p:cNvSpPr>
            <a:spLocks noGrp="1"/>
          </p:cNvSpPr>
          <p:nvPr>
            <p:ph type="title" idx="4294967295"/>
          </p:nvPr>
        </p:nvSpPr>
        <p:spPr>
          <a:xfrm>
            <a:off x="5181600" y="2324100"/>
            <a:ext cx="6400800" cy="4953000"/>
          </a:xfrm>
        </p:spPr>
        <p:txBody>
          <a:bodyPr>
            <a:normAutofit/>
          </a:bodyPr>
          <a:lstStyle/>
          <a:p>
            <a:r>
              <a:rPr lang="en-IN" sz="9600" dirty="0"/>
              <a:t>Thank You </a:t>
            </a:r>
          </a:p>
        </p:txBody>
      </p:sp>
      <p:sp>
        <p:nvSpPr>
          <p:cNvPr id="3" name="Content Placeholder 2">
            <a:extLst>
              <a:ext uri="{FF2B5EF4-FFF2-40B4-BE49-F238E27FC236}">
                <a16:creationId xmlns:a16="http://schemas.microsoft.com/office/drawing/2014/main" id="{7613FDC9-A399-8473-BF7F-B75675EDDA93}"/>
              </a:ext>
            </a:extLst>
          </p:cNvPr>
          <p:cNvSpPr>
            <a:spLocks noGrp="1"/>
          </p:cNvSpPr>
          <p:nvPr>
            <p:ph idx="4294967295"/>
          </p:nvPr>
        </p:nvSpPr>
        <p:spPr>
          <a:xfrm flipH="1">
            <a:off x="12268200" y="5448300"/>
            <a:ext cx="4495800" cy="3581400"/>
          </a:xfrm>
        </p:spPr>
        <p:txBody>
          <a:bodyPr>
            <a:normAutofit/>
          </a:bodyPr>
          <a:lstStyle/>
          <a:p>
            <a:pPr marL="0" indent="0">
              <a:buNone/>
            </a:pPr>
            <a:r>
              <a:rPr lang="en-IN" b="1" dirty="0"/>
              <a:t>Team Members </a:t>
            </a:r>
          </a:p>
          <a:p>
            <a:pPr marL="742950" indent="-742950">
              <a:buClr>
                <a:schemeClr val="tx1"/>
              </a:buClr>
              <a:buFont typeface="+mj-lt"/>
              <a:buAutoNum type="arabicPeriod"/>
            </a:pPr>
            <a:r>
              <a:rPr lang="en-IN" b="1" dirty="0"/>
              <a:t>Saini Kavya</a:t>
            </a:r>
          </a:p>
          <a:p>
            <a:pPr marL="742950" indent="-742950">
              <a:buClr>
                <a:schemeClr val="tx1"/>
              </a:buClr>
              <a:buFont typeface="+mj-lt"/>
              <a:buAutoNum type="arabicPeriod"/>
            </a:pPr>
            <a:r>
              <a:rPr lang="en-IN" b="1" dirty="0"/>
              <a:t>N. Rajeshwar</a:t>
            </a:r>
          </a:p>
          <a:p>
            <a:pPr marL="742950" indent="-742950">
              <a:buClr>
                <a:schemeClr val="tx1"/>
              </a:buClr>
              <a:buFont typeface="+mj-lt"/>
              <a:buAutoNum type="arabicPeriod"/>
            </a:pPr>
            <a:r>
              <a:rPr lang="en-IN" b="1" dirty="0"/>
              <a:t>M. Venkat</a:t>
            </a:r>
          </a:p>
          <a:p>
            <a:endParaRPr lang="en-IN" dirty="0"/>
          </a:p>
        </p:txBody>
      </p:sp>
      <p:pic>
        <p:nvPicPr>
          <p:cNvPr id="4" name="object 12">
            <a:extLst>
              <a:ext uri="{FF2B5EF4-FFF2-40B4-BE49-F238E27FC236}">
                <a16:creationId xmlns:a16="http://schemas.microsoft.com/office/drawing/2014/main" id="{3E9FE630-76DE-850C-90F4-68D468A81112}"/>
              </a:ext>
            </a:extLst>
          </p:cNvPr>
          <p:cNvPicPr/>
          <p:nvPr/>
        </p:nvPicPr>
        <p:blipFill>
          <a:blip r:embed="rId2" cstate="print"/>
          <a:stretch>
            <a:fillRect/>
          </a:stretch>
        </p:blipFill>
        <p:spPr>
          <a:xfrm>
            <a:off x="0" y="9524"/>
            <a:ext cx="4514849" cy="809625"/>
          </a:xfrm>
          <a:prstGeom prst="rect">
            <a:avLst/>
          </a:prstGeom>
        </p:spPr>
      </p:pic>
    </p:spTree>
    <p:extLst>
      <p:ext uri="{BB962C8B-B14F-4D97-AF65-F5344CB8AC3E}">
        <p14:creationId xmlns:p14="http://schemas.microsoft.com/office/powerpoint/2010/main" val="162441526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434</TotalTime>
  <Words>496</Words>
  <Application>Microsoft Office PowerPoint</Application>
  <PresentationFormat>Custom</PresentationFormat>
  <Paragraphs>48</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Garamond</vt:lpstr>
      <vt:lpstr>Times New Roman</vt:lpstr>
      <vt:lpstr>Organic</vt:lpstr>
      <vt:lpstr>Employee Management System </vt:lpstr>
      <vt:lpstr>EMPLOYEE MANAGEMENT SYSTEM </vt:lpstr>
      <vt:lpstr>Introduction </vt:lpstr>
      <vt:lpstr>Tables</vt:lpstr>
      <vt:lpstr>PowerPoint Presentation</vt:lpstr>
      <vt:lpstr>PowerPoint Presentation</vt:lpstr>
      <vt:lpstr>ER Diagram</vt:lpstr>
      <vt:lpstr>  Problem Statement </vt:lpstr>
      <vt:lpstr>1. How many unique employees are currently in the system?</vt:lpstr>
      <vt:lpstr>2. Which departments have the highest number of employees?</vt:lpstr>
      <vt:lpstr>3. What is the average salary per department?</vt:lpstr>
      <vt:lpstr>4. Who are the top 5 highest-paid employees?</vt:lpstr>
      <vt:lpstr>5. What is the total salary expenditure across the company?</vt:lpstr>
      <vt:lpstr>6. How many different job roles exist in each department?</vt:lpstr>
      <vt:lpstr>7. What is the average salary range per department?</vt:lpstr>
      <vt:lpstr>8. Which job roles offer the highest salary? </vt:lpstr>
      <vt:lpstr>9. Which departments have the highest total salary allocation?</vt:lpstr>
      <vt:lpstr>10. How many employees have at least one qualification listed?</vt:lpstr>
      <vt:lpstr>11. Which positions require the most qualifications?</vt:lpstr>
      <vt:lpstr>12. Which employees have the highest number of qualifications?</vt:lpstr>
      <vt:lpstr>13. Which year had the most employees taking leaves? </vt:lpstr>
      <vt:lpstr>14. What is the average number of leave days taken by its employees per department?</vt:lpstr>
      <vt:lpstr>15. Which employees have taken the most leaves?</vt:lpstr>
      <vt:lpstr>16. What is the total number of leave days taken company-wide?</vt:lpstr>
      <vt:lpstr>17. How do leave days correlate with payroll amounts?</vt:lpstr>
      <vt:lpstr>18. What is the total monthly payroll processed?</vt:lpstr>
      <vt:lpstr>19. What is the average bonus given per department?</vt:lpstr>
      <vt:lpstr>20. Which department receives the highest total bonuses?</vt:lpstr>
      <vt:lpstr>21. What is the average value of total amount after considering leave deductions?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KAVYA SAINI</dc:creator>
  <cp:lastModifiedBy>KAVYA SAINI</cp:lastModifiedBy>
  <cp:revision>7</cp:revision>
  <dcterms:created xsi:type="dcterms:W3CDTF">2026-02-02T07:47:37Z</dcterms:created>
  <dcterms:modified xsi:type="dcterms:W3CDTF">2026-02-11T12:01:52Z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2025-05-31T00:00:00Z</vt:filetime>
  </property>
  <property fmtid="{D5CDD505-2E9C-101B-9397-08002B2CF9AE}" pid="3" name="LastSaved">
    <vt:filetime>2026-02-02T00:00:00Z</vt:filetime>
  </property>
</Properties>
</file>